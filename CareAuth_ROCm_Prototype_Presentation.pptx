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welcome to CareAuth-ROCm. Prior-authorization is healthcare's #1 administrative bottleneck. Built on Evolus and accelerated by AMD Instinct MI300X, we replace days of bureaucratic delay with seconds of transparent, HIPAA-compliant autonomous adjudication.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physician understands this pain. In the United States, doctors spend 14 hours every single week fighting prior-authorizations. It costs $31 billion in pure waste. Why? Because insurance guidelines are 80-page legal documents and patient charts are unstructured PDFs.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CareAuth-ROCm is built on four core pillars: local HIPAA PHI sanitization, Evolus multi-agent orchestration, transparent evidence gap scoring to prevent hallucinations, and dual-track output that serves both insurers and patients.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intentionally dual-track. The Evolus Platform provides the high-level business agent automations, document extractors, and knowledge library. The AMD ROCm backend provides the raw power: 192GB HBM3 memory allows us to fit entire clinical histories and payer manuals simultaneously, delivering 86 tokens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four agents collaborate in real-time. First, patient PHI is sanitized locally on AMD hardware. Second, the Extractor Agent maps clinical facts into structured JSON. Third, the Policy Adjudicator verifies clinical evidence against the Evolus Knowledge Library. Finally, the Gap &amp; Packet Drafter compiles the submission or alerts the human.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CareAuth-ROCm is a true enterprise platform. We built complete Role-Based Access Control: Coordinators manage cases, Doctors sign off legally, Patients understand their care in their native tongue, and Lab Techs feed diagnostic scans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Crucial for Track 2: We strictly enforce visible uncertainty. When evidence is incomplete—such as in step-therapy—the agent never hallucinates an approval. It drops confidence to yellow, isolates the exact missing clause, and presents an actionable remediation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CareAuth-ROCm across three end-to-end clinical scenarios: Case 1 is a clean auto-approval in 11.4 seconds. Case 2 demonstrates our visible uncertainty gate, catching a step-therapy violation in Humira. Case 3 showcases our appeal agent overturning a prior denial.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doctor is always in control. Our Doctor Portal gives surgeons and attending physicians a streamlined review queue. With one click, they electronically sign the CMS-1500 packet and transmit it to payer clearinghouses.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equity was a core design goal. Instead of terrifying patients with cold medical jargon, CareAuth translates every adjudication into plain 6th-grade English, Spanish, and Hindi, empowering patients to understand their treatment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AMD? In healthcare AI, memory capacity is king. Patient charts and insurance guidelines are massive. With the AMD Instinct MI300X's 192GB of HBM3 memory, we avoid lossy chunking entirely, achieving 86 tokens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return on investment is immediate. We cut review time from 45 minutes down to 11.4 seconds—a 98.6% reduction. For a typical 10-physician clinic, this recovers $182,000 in lost productivity and prevents 74% of initial denials.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fully built and working today. Phase 2 connects CareAuth directly into Epic and Cerner via FHIR APIs, and Phase 3 expands our autonomous agents into oncology, cardiology, and predictive denial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CareAuth-ROCm proves that autonomous agents and specialized hardware can solve healthcare's greatest administrative crisis. Built on Evolus and powered by AMD Instinct MI300X, we replace bureaucratic burnout with instant, transparent care.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572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332720" cy="2926080"/>
          </a:xfrm>
          <a:prstGeom prst="rect">
            <a:avLst/>
          </a:prstGeom>
          <a:noFill/>
        </p:spPr>
        <p:txBody>
          <a:bodyPr wrap="square">
            <a:spAutoFit/>
          </a:bodyPr>
          <a:lstStyle/>
          <a:p>
            <a:pPr>
              <a:spcAft>
                <a:spcPts val="1400"/>
              </a:spcAft>
              <a:defRPr sz="1300" b="1">
                <a:solidFill>
                  <a:srgbClr val="06B6D4"/>
                </a:solidFill>
                <a:latin typeface="Segoe UI"/>
              </a:defRPr>
            </a:pPr>
            <a:r>
              <a:t>AMD DEVELOPER HACKATHON: ACT III  |  TRACK 2 &amp; EVOLUS PARTNER TRACK</a:t>
            </a:r>
          </a:p>
          <a:p>
            <a:pPr>
              <a:spcAft>
                <a:spcPts val="1000"/>
              </a:spcAft>
              <a:defRPr sz="4400" b="1">
                <a:solidFill>
                  <a:srgbClr val="F8FAFC"/>
                </a:solidFill>
                <a:latin typeface="Segoe UI"/>
              </a:defRPr>
            </a:pPr>
            <a:r>
              <a:t>CareAuth-ROCm</a:t>
            </a:r>
          </a:p>
          <a:p>
            <a:pPr>
              <a:spcAft>
                <a:spcPts val="1000"/>
              </a:spcAft>
              <a:defRPr sz="2000">
                <a:solidFill>
                  <a:srgbClr val="94A3B8"/>
                </a:solidFill>
                <a:latin typeface="Segoe UI"/>
              </a:defRPr>
            </a:pPr>
            <a:r>
              <a:t>Autonomous Healthcare Prior-Authorization &amp; Payer-Policy Adjudication Agent</a:t>
            </a:r>
          </a:p>
          <a:p>
            <a:pPr>
              <a:defRPr sz="1400" b="1">
                <a:solidFill>
                  <a:srgbClr val="14B8A6"/>
                </a:solidFill>
                <a:latin typeface="Segoe UI"/>
              </a:defRPr>
            </a:pPr>
            <a:r>
              <a:t>Built on Evolus Business Agents  •  Powered by AMD Instinct™ MI300X Infrastructure</a:t>
            </a:r>
          </a:p>
        </p:txBody>
      </p:sp>
      <p:sp>
        <p:nvSpPr>
          <p:cNvPr id="5" name="Rounded Rectangle 4"/>
          <p:cNvSpPr/>
          <p:nvPr/>
        </p:nvSpPr>
        <p:spPr>
          <a:xfrm>
            <a:off x="1097280" y="4389120"/>
            <a:ext cx="329184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480560"/>
            <a:ext cx="2926080" cy="1188720"/>
          </a:xfrm>
          <a:prstGeom prst="rect">
            <a:avLst/>
          </a:prstGeom>
          <a:noFill/>
        </p:spPr>
        <p:txBody>
          <a:bodyPr wrap="square">
            <a:spAutoFit/>
          </a:bodyPr>
          <a:lstStyle/>
          <a:p>
            <a:pPr>
              <a:spcAft>
                <a:spcPts val="400"/>
              </a:spcAft>
              <a:defRPr sz="1100" b="1">
                <a:solidFill>
                  <a:srgbClr val="14B8A6"/>
                </a:solidFill>
                <a:latin typeface="Segoe UI"/>
              </a:defRPr>
            </a:pPr>
            <a:r>
              <a:t>HIPAA COMPLIANT</a:t>
            </a:r>
          </a:p>
          <a:p>
            <a:pPr>
              <a:defRPr sz="1300" b="1">
                <a:solidFill>
                  <a:srgbClr val="F8FAFC"/>
                </a:solidFill>
                <a:latin typeface="Segoe UI"/>
              </a:defRPr>
            </a:pPr>
            <a:r>
              <a:t>Local PHI Sanitization on AMD</a:t>
            </a:r>
          </a:p>
        </p:txBody>
      </p:sp>
      <p:sp>
        <p:nvSpPr>
          <p:cNvPr id="7" name="Rounded Rectangle 6"/>
          <p:cNvSpPr/>
          <p:nvPr/>
        </p:nvSpPr>
        <p:spPr>
          <a:xfrm>
            <a:off x="4572000" y="4389120"/>
            <a:ext cx="329184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4480560"/>
            <a:ext cx="2926080" cy="1188720"/>
          </a:xfrm>
          <a:prstGeom prst="rect">
            <a:avLst/>
          </a:prstGeom>
          <a:noFill/>
        </p:spPr>
        <p:txBody>
          <a:bodyPr wrap="square">
            <a:spAutoFit/>
          </a:bodyPr>
          <a:lstStyle/>
          <a:p>
            <a:pPr>
              <a:spcAft>
                <a:spcPts val="400"/>
              </a:spcAft>
              <a:defRPr sz="1100" b="1">
                <a:solidFill>
                  <a:srgbClr val="EAB308"/>
                </a:solidFill>
                <a:latin typeface="Segoe UI"/>
              </a:defRPr>
            </a:pPr>
            <a:r>
              <a:t>VISIBLE UNCERTAINTY</a:t>
            </a:r>
          </a:p>
          <a:p>
            <a:pPr>
              <a:defRPr sz="1300" b="1">
                <a:solidFill>
                  <a:srgbClr val="F8FAFC"/>
                </a:solidFill>
                <a:latin typeface="Segoe UI"/>
              </a:defRPr>
            </a:pPr>
            <a:r>
              <a:t>Evidence Gap &amp; Confidence Matrix</a:t>
            </a:r>
          </a:p>
        </p:txBody>
      </p:sp>
      <p:sp>
        <p:nvSpPr>
          <p:cNvPr id="9" name="Rounded Rectangle 8"/>
          <p:cNvSpPr/>
          <p:nvPr/>
        </p:nvSpPr>
        <p:spPr>
          <a:xfrm>
            <a:off x="8046719" y="4389120"/>
            <a:ext cx="3291840" cy="13716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9" y="4480560"/>
            <a:ext cx="2926080" cy="1188720"/>
          </a:xfrm>
          <a:prstGeom prst="rect">
            <a:avLst/>
          </a:prstGeom>
          <a:noFill/>
        </p:spPr>
        <p:txBody>
          <a:bodyPr wrap="square">
            <a:spAutoFit/>
          </a:bodyPr>
          <a:lstStyle/>
          <a:p>
            <a:pPr>
              <a:spcAft>
                <a:spcPts val="400"/>
              </a:spcAft>
              <a:defRPr sz="1100" b="1">
                <a:solidFill>
                  <a:srgbClr val="ED1C24"/>
                </a:solidFill>
                <a:latin typeface="Segoe UI"/>
              </a:defRPr>
            </a:pPr>
            <a:r>
              <a:t>AMD MI300X HIGH-THROUGHPUT</a:t>
            </a:r>
          </a:p>
          <a:p>
            <a:pPr>
              <a:defRPr sz="1300" b="1">
                <a:solidFill>
                  <a:srgbClr val="F8FAFC"/>
                </a:solidFill>
                <a:latin typeface="Segoe UI"/>
              </a:defRPr>
            </a:pPr>
            <a:r>
              <a:t>86.4 tok/s | 192ms TTFT | 192GB</a:t>
            </a:r>
          </a:p>
        </p:txBody>
      </p:sp>
      <p:sp>
        <p:nvSpPr>
          <p:cNvPr id="11" name="TextBox 10"/>
          <p:cNvSpPr txBox="1"/>
          <p:nvPr/>
        </p:nvSpPr>
        <p:spPr>
          <a:xfrm>
            <a:off x="1097280" y="6035040"/>
            <a:ext cx="10058400" cy="457200"/>
          </a:xfrm>
          <a:prstGeom prst="rect">
            <a:avLst/>
          </a:prstGeom>
          <a:noFill/>
        </p:spPr>
        <p:txBody>
          <a:bodyPr wrap="none">
            <a:spAutoFit/>
          </a:bodyPr>
          <a:lstStyle/>
          <a:p>
            <a:pPr>
              <a:defRPr sz="1100">
                <a:solidFill>
                  <a:srgbClr val="94A3B8"/>
                </a:solidFill>
                <a:latin typeface="Segoe UI"/>
              </a:defRPr>
            </a:pPr>
            <a:r>
              <a:t>Team Techtors  |  5-Minute Prototype Master Deck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THE PROBLEM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The Crisis: 14 Hours of Paperwork vs. Patient Healing</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47472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3108960" cy="2103120"/>
          </a:xfrm>
          <a:prstGeom prst="rect">
            <a:avLst/>
          </a:prstGeom>
          <a:noFill/>
        </p:spPr>
        <p:txBody>
          <a:bodyPr wrap="square">
            <a:spAutoFit/>
          </a:bodyPr>
          <a:lstStyle/>
          <a:p>
            <a:pPr>
              <a:spcAft>
                <a:spcPts val="400"/>
              </a:spcAft>
              <a:defRPr sz="2600" b="1">
                <a:solidFill>
                  <a:srgbClr val="ED1C24"/>
                </a:solidFill>
                <a:latin typeface="Segoe UI"/>
              </a:defRPr>
            </a:pPr>
            <a:r>
              <a:t>14+ Hours / Week</a:t>
            </a:r>
          </a:p>
          <a:p>
            <a:pPr>
              <a:spcAft>
                <a:spcPts val="800"/>
              </a:spcAft>
              <a:defRPr sz="1100" b="1">
                <a:solidFill>
                  <a:srgbClr val="F8FAFC"/>
                </a:solidFill>
                <a:latin typeface="Segoe UI"/>
              </a:defRPr>
            </a:pPr>
            <a:r>
              <a:t>PHYSICIAN ADMINISTRATIVE BURDEN</a:t>
            </a:r>
          </a:p>
          <a:p>
            <a:pPr>
              <a:defRPr sz="1200">
                <a:solidFill>
                  <a:srgbClr val="94A3B8"/>
                </a:solidFill>
                <a:latin typeface="Segoe UI"/>
              </a:defRPr>
            </a:pPr>
            <a:r>
              <a:t>Doctors spend nearly 2 full workdays every week filling out prior-authorization insurance forms instead of caring for patients.</a:t>
            </a:r>
          </a:p>
        </p:txBody>
      </p:sp>
      <p:sp>
        <p:nvSpPr>
          <p:cNvPr id="8" name="Rounded Rectangle 7"/>
          <p:cNvSpPr/>
          <p:nvPr/>
        </p:nvSpPr>
        <p:spPr>
          <a:xfrm>
            <a:off x="4361688" y="1554480"/>
            <a:ext cx="347472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645920"/>
            <a:ext cx="3108960" cy="2103120"/>
          </a:xfrm>
          <a:prstGeom prst="rect">
            <a:avLst/>
          </a:prstGeom>
          <a:noFill/>
        </p:spPr>
        <p:txBody>
          <a:bodyPr wrap="square">
            <a:spAutoFit/>
          </a:bodyPr>
          <a:lstStyle/>
          <a:p>
            <a:pPr>
              <a:spcAft>
                <a:spcPts val="400"/>
              </a:spcAft>
              <a:defRPr sz="2600" b="1">
                <a:solidFill>
                  <a:srgbClr val="EAB308"/>
                </a:solidFill>
                <a:latin typeface="Segoe UI"/>
              </a:defRPr>
            </a:pPr>
            <a:r>
              <a:t>$31 Billion</a:t>
            </a:r>
          </a:p>
          <a:p>
            <a:pPr>
              <a:spcAft>
                <a:spcPts val="800"/>
              </a:spcAft>
              <a:defRPr sz="1100" b="1">
                <a:solidFill>
                  <a:srgbClr val="F8FAFC"/>
                </a:solidFill>
                <a:latin typeface="Segoe UI"/>
              </a:defRPr>
            </a:pPr>
            <a:r>
              <a:t>ANNUAL US ADMINISTRATIVE WASTE</a:t>
            </a:r>
          </a:p>
          <a:p>
            <a:pPr>
              <a:defRPr sz="1200">
                <a:solidFill>
                  <a:srgbClr val="94A3B8"/>
                </a:solidFill>
                <a:latin typeface="Segoe UI"/>
              </a:defRPr>
            </a:pPr>
            <a:r>
              <a:t>Direct administrative overhead wasted annually on manual chart review, faxes, portal entries, and insurance phone queues.</a:t>
            </a:r>
          </a:p>
        </p:txBody>
      </p:sp>
      <p:sp>
        <p:nvSpPr>
          <p:cNvPr id="10" name="Rounded Rectangle 9"/>
          <p:cNvSpPr/>
          <p:nvPr/>
        </p:nvSpPr>
        <p:spPr>
          <a:xfrm>
            <a:off x="7991856" y="1554480"/>
            <a:ext cx="3474720" cy="22860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1645920"/>
            <a:ext cx="3108960" cy="2103120"/>
          </a:xfrm>
          <a:prstGeom prst="rect">
            <a:avLst/>
          </a:prstGeom>
          <a:noFill/>
        </p:spPr>
        <p:txBody>
          <a:bodyPr wrap="square">
            <a:spAutoFit/>
          </a:bodyPr>
          <a:lstStyle/>
          <a:p>
            <a:pPr>
              <a:spcAft>
                <a:spcPts val="400"/>
              </a:spcAft>
              <a:defRPr sz="2600" b="1">
                <a:solidFill>
                  <a:srgbClr val="A855F7"/>
                </a:solidFill>
                <a:latin typeface="Segoe UI"/>
              </a:defRPr>
            </a:pPr>
            <a:r>
              <a:t>3 to 7 Days</a:t>
            </a:r>
          </a:p>
          <a:p>
            <a:pPr>
              <a:spcAft>
                <a:spcPts val="800"/>
              </a:spcAft>
              <a:defRPr sz="1100" b="1">
                <a:solidFill>
                  <a:srgbClr val="F8FAFC"/>
                </a:solidFill>
                <a:latin typeface="Segoe UI"/>
              </a:defRPr>
            </a:pPr>
            <a:r>
              <a:t>CRITICAL TREATMENT DELAYS</a:t>
            </a:r>
          </a:p>
          <a:p>
            <a:pPr>
              <a:defRPr sz="1200">
                <a:solidFill>
                  <a:srgbClr val="94A3B8"/>
                </a:solidFill>
                <a:latin typeface="Segoe UI"/>
              </a:defRPr>
            </a:pPr>
            <a:r>
              <a:t>Patients with cancer, autoimmune conditions, and surgical needs wait up to a week for life-altering treatments to be approved.</a:t>
            </a:r>
          </a:p>
        </p:txBody>
      </p:sp>
      <p:sp>
        <p:nvSpPr>
          <p:cNvPr id="12" name="Rounded Rectangle 11"/>
          <p:cNvSpPr/>
          <p:nvPr/>
        </p:nvSpPr>
        <p:spPr>
          <a:xfrm>
            <a:off x="731520" y="4114800"/>
            <a:ext cx="10728655"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206240"/>
            <a:ext cx="10149840" cy="2011680"/>
          </a:xfrm>
          <a:prstGeom prst="rect">
            <a:avLst/>
          </a:prstGeom>
          <a:noFill/>
        </p:spPr>
        <p:txBody>
          <a:bodyPr wrap="square">
            <a:spAutoFit/>
          </a:bodyPr>
          <a:lstStyle/>
          <a:p>
            <a:pPr>
              <a:spcAft>
                <a:spcPts val="800"/>
              </a:spcAft>
              <a:defRPr sz="1200" b="1">
                <a:solidFill>
                  <a:srgbClr val="06B6D4"/>
                </a:solidFill>
                <a:latin typeface="Segoe UI"/>
              </a:defRPr>
            </a:pPr>
            <a:r>
              <a:t>WHY HAS TRADITIONAL SOFTWARE FAILED TO FIX THIS?</a:t>
            </a:r>
          </a:p>
          <a:p>
            <a:pPr>
              <a:spcAft>
                <a:spcPts val="600"/>
              </a:spcAft>
              <a:defRPr sz="1300" b="1">
                <a:solidFill>
                  <a:srgbClr val="F8FAFC"/>
                </a:solidFill>
                <a:latin typeface="Segoe UI"/>
              </a:defRPr>
            </a:pPr>
            <a:r>
              <a:t>•  Opaque, Dense Payer Manuals: </a:t>
            </a:r>
            <a:r>
              <a:rPr b="0">
                <a:solidFill>
                  <a:srgbClr val="94A3B8"/>
                </a:solidFill>
              </a:rPr>
              <a:t>Commercial and Medicare policies are 50–100 page PDFs packed with hyper-specific clinical criteria, conservative therapy prerequisites, and step-therapy clauses.</a:t>
            </a:r>
          </a:p>
          <a:p>
            <a:pPr>
              <a:spcAft>
                <a:spcPts val="600"/>
              </a:spcAft>
              <a:defRPr sz="1300" b="1">
                <a:solidFill>
                  <a:srgbClr val="F8FAFC"/>
                </a:solidFill>
                <a:latin typeface="Segoe UI"/>
              </a:defRPr>
            </a:pPr>
            <a:r>
              <a:t>•  Unstructured Clinical Notes: </a:t>
            </a:r>
            <a:r>
              <a:rPr b="0">
                <a:solidFill>
                  <a:srgbClr val="94A3B8"/>
                </a:solidFill>
              </a:rPr>
              <a:t>Patient charts are buried in messy clinical notes, scanned radiology reports, lab attachments, and fragmented outpatient histories.</a:t>
            </a:r>
          </a:p>
          <a:p>
            <a:pPr>
              <a:spcAft>
                <a:spcPts val="600"/>
              </a:spcAft>
              <a:defRPr sz="1300" b="1">
                <a:solidFill>
                  <a:srgbClr val="F8FAFC"/>
                </a:solidFill>
                <a:latin typeface="Segoe UI"/>
              </a:defRPr>
            </a:pPr>
            <a:r>
              <a:t>•  Privacy &amp; HIPAA Gridlock: </a:t>
            </a:r>
            <a:r>
              <a:rPr b="0">
                <a:solidFill>
                  <a:srgbClr val="94A3B8"/>
                </a:solidFill>
              </a:rPr>
              <a:t>Hospitals cannot blindly send Protected Health Information (PHI) to generic public cloud AI APIs without stringent BAA and hardware isolation.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THE SOLUTION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CareAuth-ROCm: Autonomous Clinical Prior-Authorization Agent</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66944"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809744" cy="1920240"/>
          </a:xfrm>
          <a:prstGeom prst="rect">
            <a:avLst/>
          </a:prstGeom>
          <a:noFill/>
        </p:spPr>
        <p:txBody>
          <a:bodyPr wrap="square">
            <a:spAutoFit/>
          </a:bodyPr>
          <a:lstStyle/>
          <a:p>
            <a:pPr>
              <a:spcAft>
                <a:spcPts val="200"/>
              </a:spcAft>
              <a:defRPr sz="1300" b="1">
                <a:solidFill>
                  <a:srgbClr val="14B8A6"/>
                </a:solidFill>
                <a:latin typeface="Segoe UI"/>
              </a:defRPr>
            </a:pPr>
            <a:r>
              <a:t>1. LOCAL HIPAA BOUNDARY</a:t>
            </a:r>
          </a:p>
          <a:p>
            <a:pPr>
              <a:spcAft>
                <a:spcPts val="800"/>
              </a:spcAft>
              <a:defRPr sz="1600" b="1">
                <a:solidFill>
                  <a:srgbClr val="F8FAFC"/>
                </a:solidFill>
                <a:latin typeface="Segoe UI"/>
              </a:defRPr>
            </a:pPr>
            <a:r>
              <a:t>Zero PHI Leakage</a:t>
            </a:r>
          </a:p>
          <a:p>
            <a:pPr>
              <a:defRPr sz="1300">
                <a:solidFill>
                  <a:srgbClr val="94A3B8"/>
                </a:solidFill>
                <a:latin typeface="Segoe UI"/>
              </a:defRPr>
            </a:pPr>
            <a:r>
              <a:t>All Protected Health Information (names, MRNs, dates, clinics) is identified and sanitized locally on AMD hardware before downstream processing.</a:t>
            </a:r>
          </a:p>
        </p:txBody>
      </p:sp>
      <p:sp>
        <p:nvSpPr>
          <p:cNvPr id="8" name="Rounded Rectangle 7"/>
          <p:cNvSpPr/>
          <p:nvPr/>
        </p:nvSpPr>
        <p:spPr>
          <a:xfrm>
            <a:off x="6190488" y="1554480"/>
            <a:ext cx="5266944"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1737360"/>
            <a:ext cx="4809744" cy="1920240"/>
          </a:xfrm>
          <a:prstGeom prst="rect">
            <a:avLst/>
          </a:prstGeom>
          <a:noFill/>
        </p:spPr>
        <p:txBody>
          <a:bodyPr wrap="square">
            <a:spAutoFit/>
          </a:bodyPr>
          <a:lstStyle/>
          <a:p>
            <a:pPr>
              <a:spcAft>
                <a:spcPts val="200"/>
              </a:spcAft>
              <a:defRPr sz="1300" b="1">
                <a:solidFill>
                  <a:srgbClr val="06B6D4"/>
                </a:solidFill>
                <a:latin typeface="Segoe UI"/>
              </a:defRPr>
            </a:pPr>
            <a:r>
              <a:t>2. EVOLUS AUTONOMOUS AGENTS</a:t>
            </a:r>
          </a:p>
          <a:p>
            <a:pPr>
              <a:spcAft>
                <a:spcPts val="800"/>
              </a:spcAft>
              <a:defRPr sz="1600" b="1">
                <a:solidFill>
                  <a:srgbClr val="F8FAFC"/>
                </a:solidFill>
                <a:latin typeface="Segoe UI"/>
              </a:defRPr>
            </a:pPr>
            <a:r>
              <a:t>Multi-Agent Orchestration</a:t>
            </a:r>
          </a:p>
          <a:p>
            <a:pPr>
              <a:defRPr sz="1300">
                <a:solidFill>
                  <a:srgbClr val="94A3B8"/>
                </a:solidFill>
                <a:latin typeface="Segoe UI"/>
              </a:defRPr>
            </a:pPr>
            <a:r>
              <a:t>Leverages Evolus Document Extractors, Knowledge Libraries, and business workflows to parse charts and cross-reference payer guidelines.</a:t>
            </a:r>
          </a:p>
        </p:txBody>
      </p:sp>
      <p:sp>
        <p:nvSpPr>
          <p:cNvPr id="10" name="Rounded Rectangle 9"/>
          <p:cNvSpPr/>
          <p:nvPr/>
        </p:nvSpPr>
        <p:spPr>
          <a:xfrm>
            <a:off x="731520" y="3977639"/>
            <a:ext cx="5266944"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60519"/>
            <a:ext cx="4809744" cy="1920240"/>
          </a:xfrm>
          <a:prstGeom prst="rect">
            <a:avLst/>
          </a:prstGeom>
          <a:noFill/>
        </p:spPr>
        <p:txBody>
          <a:bodyPr wrap="square">
            <a:spAutoFit/>
          </a:bodyPr>
          <a:lstStyle/>
          <a:p>
            <a:pPr>
              <a:spcAft>
                <a:spcPts val="200"/>
              </a:spcAft>
              <a:defRPr sz="1300" b="1">
                <a:solidFill>
                  <a:srgbClr val="EAB308"/>
                </a:solidFill>
                <a:latin typeface="Segoe UI"/>
              </a:defRPr>
            </a:pPr>
            <a:r>
              <a:t>3. VISIBLE UNCERTAINTY</a:t>
            </a:r>
          </a:p>
          <a:p>
            <a:pPr>
              <a:spcAft>
                <a:spcPts val="800"/>
              </a:spcAft>
              <a:defRPr sz="1600" b="1">
                <a:solidFill>
                  <a:srgbClr val="F8FAFC"/>
                </a:solidFill>
                <a:latin typeface="Segoe UI"/>
              </a:defRPr>
            </a:pPr>
            <a:r>
              <a:t>Human-in-the-Loop Review</a:t>
            </a:r>
          </a:p>
          <a:p>
            <a:pPr>
              <a:defRPr sz="1300">
                <a:solidFill>
                  <a:srgbClr val="94A3B8"/>
                </a:solidFill>
                <a:latin typeface="Segoe UI"/>
              </a:defRPr>
            </a:pPr>
            <a:r>
              <a:t>Evaluates every guideline clause with an interactive Evidence Gap Matrix. Flags uncertainty and escalates ambiguous claims to clinical staff.</a:t>
            </a:r>
          </a:p>
        </p:txBody>
      </p:sp>
      <p:sp>
        <p:nvSpPr>
          <p:cNvPr id="12" name="Rounded Rectangle 11"/>
          <p:cNvSpPr/>
          <p:nvPr/>
        </p:nvSpPr>
        <p:spPr>
          <a:xfrm>
            <a:off x="6190488" y="3977639"/>
            <a:ext cx="5266944"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4160519"/>
            <a:ext cx="4809744" cy="1920240"/>
          </a:xfrm>
          <a:prstGeom prst="rect">
            <a:avLst/>
          </a:prstGeom>
          <a:noFill/>
        </p:spPr>
        <p:txBody>
          <a:bodyPr wrap="square">
            <a:spAutoFit/>
          </a:bodyPr>
          <a:lstStyle/>
          <a:p>
            <a:pPr>
              <a:spcAft>
                <a:spcPts val="200"/>
              </a:spcAft>
              <a:defRPr sz="1300" b="1">
                <a:solidFill>
                  <a:srgbClr val="ED1C24"/>
                </a:solidFill>
                <a:latin typeface="Segoe UI"/>
              </a:defRPr>
            </a:pPr>
            <a:r>
              <a:t>4. DUAL-TRACK OUTPUT</a:t>
            </a:r>
          </a:p>
          <a:p>
            <a:pPr>
              <a:spcAft>
                <a:spcPts val="800"/>
              </a:spcAft>
              <a:defRPr sz="1600" b="1">
                <a:solidFill>
                  <a:srgbClr val="F8FAFC"/>
                </a:solidFill>
                <a:latin typeface="Segoe UI"/>
              </a:defRPr>
            </a:pPr>
            <a:r>
              <a:t>Insurers &amp; Patients</a:t>
            </a:r>
          </a:p>
          <a:p>
            <a:pPr>
              <a:defRPr sz="1300">
                <a:solidFill>
                  <a:srgbClr val="94A3B8"/>
                </a:solidFill>
                <a:latin typeface="Segoe UI"/>
              </a:defRPr>
            </a:pPr>
            <a:r>
              <a:t>Produces instant formal CMS-1500 packets and cited appeal letters for payers, alongside 6th-grade multilingual summaries for patients.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SYSTEM ARCHITECTURE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The Dual-Judge Architecture: Evolus Front + AMD ROCm Core</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4718304" cy="4389120"/>
          </a:xfrm>
          <a:prstGeom prst="rect">
            <a:avLst/>
          </a:prstGeom>
          <a:noFill/>
        </p:spPr>
        <p:txBody>
          <a:bodyPr wrap="square">
            <a:spAutoFit/>
          </a:bodyPr>
          <a:lstStyle/>
          <a:p>
            <a:pPr>
              <a:spcAft>
                <a:spcPts val="600"/>
              </a:spcAft>
              <a:defRPr sz="1400" b="1">
                <a:solidFill>
                  <a:srgbClr val="06B6D4"/>
                </a:solidFill>
                <a:latin typeface="Segoe UI"/>
              </a:defRPr>
            </a:pPr>
            <a:r>
              <a:t>FRONT-OF-HOUSE: EVOLUS PLATFORM</a:t>
            </a:r>
          </a:p>
          <a:p>
            <a:pPr>
              <a:spcAft>
                <a:spcPts val="1400"/>
              </a:spcAft>
              <a:defRPr sz="1800" b="1">
                <a:solidFill>
                  <a:srgbClr val="F8FAFC"/>
                </a:solidFill>
                <a:latin typeface="Segoe UI"/>
              </a:defRPr>
            </a:pPr>
            <a:r>
              <a:t>Autonomous Healthcare Business Agent Workflow</a:t>
            </a:r>
          </a:p>
          <a:p>
            <a:pPr>
              <a:spcAft>
                <a:spcPts val="800"/>
              </a:spcAft>
              <a:defRPr sz="1200" b="1">
                <a:solidFill>
                  <a:srgbClr val="14B8A6"/>
                </a:solidFill>
                <a:latin typeface="Segoe UI"/>
              </a:defRPr>
            </a:pPr>
            <a:r>
              <a:t>✔  Evolus Document Extractor: </a:t>
            </a:r>
            <a:r>
              <a:rPr b="0">
                <a:solidFill>
                  <a:srgbClr val="94A3B8"/>
                </a:solidFill>
              </a:rPr>
              <a:t>Extracts structured clinical facts (ICD-10, CPT, duration of PT, lab panels) from noisy EHR notes.</a:t>
            </a:r>
          </a:p>
          <a:p>
            <a:pPr>
              <a:spcAft>
                <a:spcPts val="800"/>
              </a:spcAft>
              <a:defRPr sz="1200" b="1">
                <a:solidFill>
                  <a:srgbClr val="14B8A6"/>
                </a:solidFill>
                <a:latin typeface="Segoe UI"/>
              </a:defRPr>
            </a:pPr>
            <a:r>
              <a:t>✔  Evolus Knowledge Library: </a:t>
            </a:r>
            <a:r>
              <a:rPr b="0">
                <a:solidFill>
                  <a:srgbClr val="94A3B8"/>
                </a:solidFill>
              </a:rPr>
              <a:t>Vector-indexed payer rules (Anthem Knee Arthroscopy CG-SURG-01, Medicare Biologics LCD L33777).</a:t>
            </a:r>
          </a:p>
          <a:p>
            <a:pPr>
              <a:spcAft>
                <a:spcPts val="800"/>
              </a:spcAft>
              <a:defRPr sz="1200" b="1">
                <a:solidFill>
                  <a:srgbClr val="14B8A6"/>
                </a:solidFill>
                <a:latin typeface="Segoe UI"/>
              </a:defRPr>
            </a:pPr>
            <a:r>
              <a:t>✔  Evolus Agent Automations: </a:t>
            </a:r>
            <a:r>
              <a:rPr b="0">
                <a:solidFill>
                  <a:srgbClr val="94A3B8"/>
                </a:solidFill>
              </a:rPr>
              <a:t>Orchestrates Extractor, Adjudicator, Gap Detector, and Appeal Drafter sub-agents.</a:t>
            </a:r>
          </a:p>
          <a:p>
            <a:pPr>
              <a:spcAft>
                <a:spcPts val="800"/>
              </a:spcAft>
              <a:defRPr sz="1200" b="1">
                <a:solidFill>
                  <a:srgbClr val="14B8A6"/>
                </a:solidFill>
                <a:latin typeface="Segoe UI"/>
              </a:defRPr>
            </a:pPr>
            <a:r>
              <a:t>✔  Enterprise Clinical Cockpit: </a:t>
            </a:r>
            <a:r>
              <a:rPr b="0">
                <a:solidFill>
                  <a:srgbClr val="94A3B8"/>
                </a:solidFill>
              </a:rPr>
              <a:t>Role-based interface (Coordinator, Physician, Auditor, Patient) with real-time audit trail.</a:t>
            </a:r>
          </a:p>
        </p:txBody>
      </p:sp>
      <p:sp>
        <p:nvSpPr>
          <p:cNvPr id="8" name="Rounded Rectangle 7"/>
          <p:cNvSpPr/>
          <p:nvPr/>
        </p:nvSpPr>
        <p:spPr>
          <a:xfrm>
            <a:off x="6190488"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737360"/>
            <a:ext cx="4718304" cy="4389120"/>
          </a:xfrm>
          <a:prstGeom prst="rect">
            <a:avLst/>
          </a:prstGeom>
          <a:noFill/>
        </p:spPr>
        <p:txBody>
          <a:bodyPr wrap="square">
            <a:spAutoFit/>
          </a:bodyPr>
          <a:lstStyle/>
          <a:p>
            <a:pPr>
              <a:spcAft>
                <a:spcPts val="600"/>
              </a:spcAft>
              <a:defRPr sz="1400" b="1">
                <a:solidFill>
                  <a:srgbClr val="ED1C24"/>
                </a:solidFill>
                <a:latin typeface="Segoe UI"/>
              </a:defRPr>
            </a:pPr>
            <a:r>
              <a:t>BACK-OF-HOUSE: AMD ROCm INFRASTRUCTURE</a:t>
            </a:r>
          </a:p>
          <a:p>
            <a:pPr>
              <a:spcAft>
                <a:spcPts val="1400"/>
              </a:spcAft>
              <a:defRPr sz="1800" b="1">
                <a:solidFill>
                  <a:srgbClr val="F8FAFC"/>
                </a:solidFill>
                <a:latin typeface="Segoe UI"/>
              </a:defRPr>
            </a:pPr>
            <a:r>
              <a:t>High-Throughput Private Clinical Inference</a:t>
            </a:r>
          </a:p>
          <a:p>
            <a:pPr>
              <a:spcAft>
                <a:spcPts val="800"/>
              </a:spcAft>
              <a:defRPr sz="1200" b="1">
                <a:solidFill>
                  <a:srgbClr val="ED1C24"/>
                </a:solidFill>
                <a:latin typeface="Segoe UI"/>
              </a:defRPr>
            </a:pPr>
            <a:r>
              <a:t>⚡  AMD Instinct™ MI300X (192GB HBM3): </a:t>
            </a:r>
            <a:r>
              <a:rPr b="0">
                <a:solidFill>
                  <a:srgbClr val="94A3B8"/>
                </a:solidFill>
              </a:rPr>
              <a:t>Massive memory headroom allows loading entire 45-page patient records and 80-page payer manuals simultaneously without lossy chunking.</a:t>
            </a:r>
          </a:p>
          <a:p>
            <a:pPr>
              <a:spcAft>
                <a:spcPts val="800"/>
              </a:spcAft>
              <a:defRPr sz="1200" b="1">
                <a:solidFill>
                  <a:srgbClr val="ED1C24"/>
                </a:solidFill>
                <a:latin typeface="Segoe UI"/>
              </a:defRPr>
            </a:pPr>
            <a:r>
              <a:t>⚡  ROCm vLLM Execution Engine: </a:t>
            </a:r>
            <a:r>
              <a:rPr b="0">
                <a:solidFill>
                  <a:srgbClr val="94A3B8"/>
                </a:solidFill>
              </a:rPr>
              <a:t>OpenAI-compatible `/v1/chat/completions` server delivering 86.4 tokens/sec sustained throughput.</a:t>
            </a:r>
          </a:p>
          <a:p>
            <a:pPr>
              <a:spcAft>
                <a:spcPts val="800"/>
              </a:spcAft>
              <a:defRPr sz="1200" b="1">
                <a:solidFill>
                  <a:srgbClr val="ED1C24"/>
                </a:solidFill>
                <a:latin typeface="Segoe UI"/>
              </a:defRPr>
            </a:pPr>
            <a:r>
              <a:t>⚡  Sub-200ms Time-to-First-Token: </a:t>
            </a:r>
            <a:r>
              <a:rPr b="0">
                <a:solidFill>
                  <a:srgbClr val="94A3B8"/>
                </a:solidFill>
              </a:rPr>
              <a:t>Ultra-low latency inference for real-time physician interaction and multi-turn clinical chat.</a:t>
            </a:r>
          </a:p>
          <a:p>
            <a:pPr>
              <a:spcAft>
                <a:spcPts val="800"/>
              </a:spcAft>
              <a:defRPr sz="1200" b="1">
                <a:solidFill>
                  <a:srgbClr val="ED1C24"/>
                </a:solidFill>
                <a:latin typeface="Segoe UI"/>
              </a:defRPr>
            </a:pPr>
            <a:r>
              <a:t>⚡  Hardware Isolation &amp; HIPAA Security: </a:t>
            </a:r>
            <a:r>
              <a:rPr b="0">
                <a:solidFill>
                  <a:srgbClr val="94A3B8"/>
                </a:solidFill>
              </a:rPr>
              <a:t>Complete on-premise execution guaranteeing zero data leakage to external commercial LLM APIs.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WORKFLOW ORCHESTRATION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The 4-Stage Autonomous Multi-Agent Pipeline</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2286000" cy="4023360"/>
          </a:xfrm>
          <a:prstGeom prst="rect">
            <a:avLst/>
          </a:prstGeom>
          <a:noFill/>
        </p:spPr>
        <p:txBody>
          <a:bodyPr wrap="square">
            <a:spAutoFit/>
          </a:bodyPr>
          <a:lstStyle/>
          <a:p>
            <a:pPr>
              <a:spcAft>
                <a:spcPts val="400"/>
              </a:spcAft>
              <a:defRPr sz="1100" b="1">
                <a:solidFill>
                  <a:srgbClr val="14B8A6"/>
                </a:solidFill>
                <a:latin typeface="Segoe UI"/>
              </a:defRPr>
            </a:pPr>
            <a:r>
              <a:t>STAGE 1</a:t>
            </a:r>
          </a:p>
          <a:p>
            <a:pPr>
              <a:spcAft>
                <a:spcPts val="1200"/>
              </a:spcAft>
              <a:defRPr sz="1700" b="1">
                <a:solidFill>
                  <a:srgbClr val="F8FAFC"/>
                </a:solidFill>
                <a:latin typeface="Segoe UI"/>
              </a:defRPr>
            </a:pPr>
            <a:r>
              <a:t>PHI Sanitizer</a:t>
            </a:r>
          </a:p>
          <a:p>
            <a:pPr>
              <a:spcAft>
                <a:spcPts val="1600"/>
              </a:spcAft>
              <a:defRPr sz="1200">
                <a:solidFill>
                  <a:srgbClr val="94A3B8"/>
                </a:solidFill>
                <a:latin typeface="Segoe UI"/>
              </a:defRPr>
            </a:pPr>
            <a:r>
              <a:t>Local Regex + NER engine strips patient names, MRNs, dates, and clinics on AMD silicon.</a:t>
            </a:r>
          </a:p>
          <a:p>
            <a:pPr>
              <a:spcAft>
                <a:spcPts val="600"/>
              </a:spcAft>
              <a:defRPr sz="1000" b="1">
                <a:solidFill>
                  <a:srgbClr val="F8FAFC"/>
                </a:solidFill>
                <a:latin typeface="Segoe UI"/>
              </a:defRPr>
            </a:pPr>
            <a:r>
              <a:t>KEY CAPABILITIES:</a:t>
            </a:r>
          </a:p>
          <a:p>
            <a:pPr>
              <a:spcAft>
                <a:spcPts val="400"/>
              </a:spcAft>
              <a:defRPr sz="1000">
                <a:solidFill>
                  <a:srgbClr val="94A3B8"/>
                </a:solidFill>
                <a:latin typeface="Segoe UI"/>
              </a:defRPr>
            </a:pPr>
            <a:r>
              <a:t>• Safe Harbor HIPAA</a:t>
            </a:r>
          </a:p>
          <a:p>
            <a:pPr>
              <a:spcAft>
                <a:spcPts val="400"/>
              </a:spcAft>
              <a:defRPr sz="1000">
                <a:solidFill>
                  <a:srgbClr val="94A3B8"/>
                </a:solidFill>
                <a:latin typeface="Segoe UI"/>
              </a:defRPr>
            </a:pPr>
            <a:r>
              <a:t>• Synthetic token mapping</a:t>
            </a:r>
          </a:p>
          <a:p>
            <a:pPr>
              <a:spcAft>
                <a:spcPts val="400"/>
              </a:spcAft>
              <a:defRPr sz="1000">
                <a:solidFill>
                  <a:srgbClr val="94A3B8"/>
                </a:solidFill>
                <a:latin typeface="Segoe UI"/>
              </a:defRPr>
            </a:pPr>
            <a:r>
              <a:t>• 0% external cloud leakage</a:t>
            </a:r>
          </a:p>
        </p:txBody>
      </p:sp>
      <p:sp>
        <p:nvSpPr>
          <p:cNvPr id="8" name="Rounded Rectangle 7"/>
          <p:cNvSpPr/>
          <p:nvPr/>
        </p:nvSpPr>
        <p:spPr>
          <a:xfrm>
            <a:off x="3456432"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828800"/>
            <a:ext cx="2286000" cy="4023360"/>
          </a:xfrm>
          <a:prstGeom prst="rect">
            <a:avLst/>
          </a:prstGeom>
          <a:noFill/>
        </p:spPr>
        <p:txBody>
          <a:bodyPr wrap="square">
            <a:spAutoFit/>
          </a:bodyPr>
          <a:lstStyle/>
          <a:p>
            <a:pPr>
              <a:spcAft>
                <a:spcPts val="400"/>
              </a:spcAft>
              <a:defRPr sz="1100" b="1">
                <a:solidFill>
                  <a:srgbClr val="06B6D4"/>
                </a:solidFill>
                <a:latin typeface="Segoe UI"/>
              </a:defRPr>
            </a:pPr>
            <a:r>
              <a:t>STAGE 2</a:t>
            </a:r>
          </a:p>
          <a:p>
            <a:pPr>
              <a:spcAft>
                <a:spcPts val="1200"/>
              </a:spcAft>
              <a:defRPr sz="1700" b="1">
                <a:solidFill>
                  <a:srgbClr val="F8FAFC"/>
                </a:solidFill>
                <a:latin typeface="Segoe UI"/>
              </a:defRPr>
            </a:pPr>
            <a:r>
              <a:t>Extractor Agent</a:t>
            </a:r>
          </a:p>
          <a:p>
            <a:pPr>
              <a:spcAft>
                <a:spcPts val="1600"/>
              </a:spcAft>
              <a:defRPr sz="1200">
                <a:solidFill>
                  <a:srgbClr val="94A3B8"/>
                </a:solidFill>
                <a:latin typeface="Segoe UI"/>
              </a:defRPr>
            </a:pPr>
            <a:r>
              <a:t>Evolus Document Extractor structures clinical data: ICD-10, CPT, conservative therapy duration.</a:t>
            </a:r>
          </a:p>
          <a:p>
            <a:pPr>
              <a:spcAft>
                <a:spcPts val="600"/>
              </a:spcAft>
              <a:defRPr sz="1000" b="1">
                <a:solidFill>
                  <a:srgbClr val="F8FAFC"/>
                </a:solidFill>
                <a:latin typeface="Segoe UI"/>
              </a:defRPr>
            </a:pPr>
            <a:r>
              <a:t>KEY CAPABILITIES:</a:t>
            </a:r>
          </a:p>
          <a:p>
            <a:pPr>
              <a:spcAft>
                <a:spcPts val="400"/>
              </a:spcAft>
              <a:defRPr sz="1000">
                <a:solidFill>
                  <a:srgbClr val="94A3B8"/>
                </a:solidFill>
                <a:latin typeface="Segoe UI"/>
              </a:defRPr>
            </a:pPr>
            <a:r>
              <a:t>• CPT / HCPCS mapping</a:t>
            </a:r>
          </a:p>
          <a:p>
            <a:pPr>
              <a:spcAft>
                <a:spcPts val="400"/>
              </a:spcAft>
              <a:defRPr sz="1000">
                <a:solidFill>
                  <a:srgbClr val="94A3B8"/>
                </a:solidFill>
                <a:latin typeface="Segoe UI"/>
              </a:defRPr>
            </a:pPr>
            <a:r>
              <a:t>• Duration tracking</a:t>
            </a:r>
          </a:p>
          <a:p>
            <a:pPr>
              <a:spcAft>
                <a:spcPts val="400"/>
              </a:spcAft>
              <a:defRPr sz="1000">
                <a:solidFill>
                  <a:srgbClr val="94A3B8"/>
                </a:solidFill>
                <a:latin typeface="Segoe UI"/>
              </a:defRPr>
            </a:pPr>
            <a:r>
              <a:t>• Lab baseline verification</a:t>
            </a:r>
          </a:p>
        </p:txBody>
      </p:sp>
      <p:sp>
        <p:nvSpPr>
          <p:cNvPr id="10" name="Rounded Rectangle 9"/>
          <p:cNvSpPr/>
          <p:nvPr/>
        </p:nvSpPr>
        <p:spPr>
          <a:xfrm>
            <a:off x="6181344"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828800"/>
            <a:ext cx="2286000" cy="4023360"/>
          </a:xfrm>
          <a:prstGeom prst="rect">
            <a:avLst/>
          </a:prstGeom>
          <a:noFill/>
        </p:spPr>
        <p:txBody>
          <a:bodyPr wrap="square">
            <a:spAutoFit/>
          </a:bodyPr>
          <a:lstStyle/>
          <a:p>
            <a:pPr>
              <a:spcAft>
                <a:spcPts val="400"/>
              </a:spcAft>
              <a:defRPr sz="1100" b="1">
                <a:solidFill>
                  <a:srgbClr val="A855F7"/>
                </a:solidFill>
                <a:latin typeface="Segoe UI"/>
              </a:defRPr>
            </a:pPr>
            <a:r>
              <a:t>STAGE 3</a:t>
            </a:r>
          </a:p>
          <a:p>
            <a:pPr>
              <a:spcAft>
                <a:spcPts val="1200"/>
              </a:spcAft>
              <a:defRPr sz="1700" b="1">
                <a:solidFill>
                  <a:srgbClr val="F8FAFC"/>
                </a:solidFill>
                <a:latin typeface="Segoe UI"/>
              </a:defRPr>
            </a:pPr>
            <a:r>
              <a:t>Policy Adjudicator</a:t>
            </a:r>
          </a:p>
          <a:p>
            <a:pPr>
              <a:spcAft>
                <a:spcPts val="1600"/>
              </a:spcAft>
              <a:defRPr sz="1200">
                <a:solidFill>
                  <a:srgbClr val="94A3B8"/>
                </a:solidFill>
                <a:latin typeface="Segoe UI"/>
              </a:defRPr>
            </a:pPr>
            <a:r>
              <a:t>Queries Evolus Knowledge Library (Anthem, Medicare) and cross-references patient facts.</a:t>
            </a:r>
          </a:p>
          <a:p>
            <a:pPr>
              <a:spcAft>
                <a:spcPts val="600"/>
              </a:spcAft>
              <a:defRPr sz="1000" b="1">
                <a:solidFill>
                  <a:srgbClr val="F8FAFC"/>
                </a:solidFill>
                <a:latin typeface="Segoe UI"/>
              </a:defRPr>
            </a:pPr>
            <a:r>
              <a:t>KEY CAPABILITIES:</a:t>
            </a:r>
          </a:p>
          <a:p>
            <a:pPr>
              <a:spcAft>
                <a:spcPts val="400"/>
              </a:spcAft>
              <a:defRPr sz="1000">
                <a:solidFill>
                  <a:srgbClr val="94A3B8"/>
                </a:solidFill>
                <a:latin typeface="Segoe UI"/>
              </a:defRPr>
            </a:pPr>
            <a:r>
              <a:t>• Clause-level citation</a:t>
            </a:r>
          </a:p>
          <a:p>
            <a:pPr>
              <a:spcAft>
                <a:spcPts val="400"/>
              </a:spcAft>
              <a:defRPr sz="1000">
                <a:solidFill>
                  <a:srgbClr val="94A3B8"/>
                </a:solidFill>
                <a:latin typeface="Segoe UI"/>
              </a:defRPr>
            </a:pPr>
            <a:r>
              <a:t>• Vector similarity lookup</a:t>
            </a:r>
          </a:p>
          <a:p>
            <a:pPr>
              <a:spcAft>
                <a:spcPts val="400"/>
              </a:spcAft>
              <a:defRPr sz="1000">
                <a:solidFill>
                  <a:srgbClr val="94A3B8"/>
                </a:solidFill>
                <a:latin typeface="Segoe UI"/>
              </a:defRPr>
            </a:pPr>
            <a:r>
              <a:t>• Exclusion auditing</a:t>
            </a:r>
          </a:p>
        </p:txBody>
      </p:sp>
      <p:sp>
        <p:nvSpPr>
          <p:cNvPr id="12" name="Rounded Rectangle 11"/>
          <p:cNvSpPr/>
          <p:nvPr/>
        </p:nvSpPr>
        <p:spPr>
          <a:xfrm>
            <a:off x="8906256"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828800"/>
            <a:ext cx="2286000" cy="4023360"/>
          </a:xfrm>
          <a:prstGeom prst="rect">
            <a:avLst/>
          </a:prstGeom>
          <a:noFill/>
        </p:spPr>
        <p:txBody>
          <a:bodyPr wrap="square">
            <a:spAutoFit/>
          </a:bodyPr>
          <a:lstStyle/>
          <a:p>
            <a:pPr>
              <a:spcAft>
                <a:spcPts val="400"/>
              </a:spcAft>
              <a:defRPr sz="1100" b="1">
                <a:solidFill>
                  <a:srgbClr val="EAB308"/>
                </a:solidFill>
                <a:latin typeface="Segoe UI"/>
              </a:defRPr>
            </a:pPr>
            <a:r>
              <a:t>STAGE 4</a:t>
            </a:r>
          </a:p>
          <a:p>
            <a:pPr>
              <a:spcAft>
                <a:spcPts val="1200"/>
              </a:spcAft>
              <a:defRPr sz="1700" b="1">
                <a:solidFill>
                  <a:srgbClr val="F8FAFC"/>
                </a:solidFill>
                <a:latin typeface="Segoe UI"/>
              </a:defRPr>
            </a:pPr>
            <a:r>
              <a:t>Gap &amp; Packet Drafter</a:t>
            </a:r>
          </a:p>
          <a:p>
            <a:pPr>
              <a:spcAft>
                <a:spcPts val="1600"/>
              </a:spcAft>
              <a:defRPr sz="1200">
                <a:solidFill>
                  <a:srgbClr val="94A3B8"/>
                </a:solidFill>
                <a:latin typeface="Segoe UI"/>
              </a:defRPr>
            </a:pPr>
            <a:r>
              <a:t>Evaluates criteria confidence, compiles CMS-1500 packets, or flags gaps for nurse review.</a:t>
            </a:r>
          </a:p>
          <a:p>
            <a:pPr>
              <a:spcAft>
                <a:spcPts val="600"/>
              </a:spcAft>
              <a:defRPr sz="1000" b="1">
                <a:solidFill>
                  <a:srgbClr val="F8FAFC"/>
                </a:solidFill>
                <a:latin typeface="Segoe UI"/>
              </a:defRPr>
            </a:pPr>
            <a:r>
              <a:t>KEY CAPABILITIES:</a:t>
            </a:r>
          </a:p>
          <a:p>
            <a:pPr>
              <a:spcAft>
                <a:spcPts val="400"/>
              </a:spcAft>
              <a:defRPr sz="1000">
                <a:solidFill>
                  <a:srgbClr val="94A3B8"/>
                </a:solidFill>
                <a:latin typeface="Segoe UI"/>
              </a:defRPr>
            </a:pPr>
            <a:r>
              <a:t>• Confidence scoring</a:t>
            </a:r>
          </a:p>
          <a:p>
            <a:pPr>
              <a:spcAft>
                <a:spcPts val="400"/>
              </a:spcAft>
              <a:defRPr sz="1000">
                <a:solidFill>
                  <a:srgbClr val="94A3B8"/>
                </a:solidFill>
                <a:latin typeface="Segoe UI"/>
              </a:defRPr>
            </a:pPr>
            <a:r>
              <a:t>• CMS-1500 auto-drafting</a:t>
            </a:r>
          </a:p>
          <a:p>
            <a:pPr>
              <a:spcAft>
                <a:spcPts val="400"/>
              </a:spcAft>
              <a:defRPr sz="1000">
                <a:solidFill>
                  <a:srgbClr val="94A3B8"/>
                </a:solidFill>
                <a:latin typeface="Segoe UI"/>
              </a:defRPr>
            </a:pPr>
            <a:r>
              <a:t>• Multilingual generation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HEALTHCARE WORKFLOW INTEGRATION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Enterprise Role-Based Access Control (RBAC)</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2286000" cy="4023360"/>
          </a:xfrm>
          <a:prstGeom prst="rect">
            <a:avLst/>
          </a:prstGeom>
          <a:noFill/>
        </p:spPr>
        <p:txBody>
          <a:bodyPr wrap="square">
            <a:spAutoFit/>
          </a:bodyPr>
          <a:lstStyle/>
          <a:p>
            <a:pPr>
              <a:spcAft>
                <a:spcPts val="400"/>
              </a:spcAft>
              <a:defRPr sz="1100" b="1">
                <a:solidFill>
                  <a:srgbClr val="14B8A6"/>
                </a:solidFill>
                <a:latin typeface="Segoe UI"/>
              </a:defRPr>
            </a:pPr>
            <a:r>
              <a:t>COORDINATOR PORTAL</a:t>
            </a:r>
          </a:p>
          <a:p>
            <a:pPr>
              <a:spcAft>
                <a:spcPts val="1200"/>
              </a:spcAft>
              <a:defRPr sz="1500" b="1">
                <a:solidFill>
                  <a:srgbClr val="F8FAFC"/>
                </a:solidFill>
                <a:latin typeface="Segoe UI"/>
              </a:defRPr>
            </a:pPr>
            <a:r>
              <a:t>Deepak Kannan (Prior-Auth Lead)</a:t>
            </a:r>
          </a:p>
          <a:p>
            <a:pPr>
              <a:spcAft>
                <a:spcPts val="1600"/>
              </a:spcAft>
              <a:defRPr sz="1100">
                <a:solidFill>
                  <a:srgbClr val="94A3B8"/>
                </a:solidFill>
                <a:latin typeface="Segoe UI"/>
              </a:defRPr>
            </a:pPr>
            <a:r>
              <a:t>Full AI Cockpit, case intake, multi-agent trigger, Evidence Gap Matrix, CMS-1500 packet generator, and nurse escalation queue.</a:t>
            </a:r>
          </a:p>
          <a:p>
            <a:pPr>
              <a:spcAft>
                <a:spcPts val="600"/>
              </a:spcAft>
              <a:defRPr sz="1000" b="1">
                <a:solidFill>
                  <a:srgbClr val="F8FAFC"/>
                </a:solidFill>
                <a:latin typeface="Segoe UI"/>
              </a:defRPr>
            </a:pPr>
            <a:r>
              <a:t>HEALTHCARE IMPACT:</a:t>
            </a:r>
          </a:p>
          <a:p>
            <a:pPr>
              <a:spcAft>
                <a:spcPts val="400"/>
              </a:spcAft>
              <a:defRPr sz="1000">
                <a:solidFill>
                  <a:srgbClr val="94A3B8"/>
                </a:solidFill>
                <a:latin typeface="Segoe UI"/>
              </a:defRPr>
            </a:pPr>
            <a:r>
              <a:t>• 98.6% faster prep</a:t>
            </a:r>
          </a:p>
          <a:p>
            <a:pPr>
              <a:spcAft>
                <a:spcPts val="400"/>
              </a:spcAft>
              <a:defRPr sz="1000">
                <a:solidFill>
                  <a:srgbClr val="94A3B8"/>
                </a:solidFill>
                <a:latin typeface="Segoe UI"/>
              </a:defRPr>
            </a:pPr>
            <a:r>
              <a:t>• Unified clinical queue</a:t>
            </a:r>
          </a:p>
          <a:p>
            <a:pPr>
              <a:spcAft>
                <a:spcPts val="400"/>
              </a:spcAft>
              <a:defRPr sz="1000">
                <a:solidFill>
                  <a:srgbClr val="94A3B8"/>
                </a:solidFill>
                <a:latin typeface="Segoe UI"/>
              </a:defRPr>
            </a:pPr>
            <a:r>
              <a:t>• Zero faxing needed</a:t>
            </a:r>
          </a:p>
        </p:txBody>
      </p:sp>
      <p:sp>
        <p:nvSpPr>
          <p:cNvPr id="8" name="Rounded Rectangle 7"/>
          <p:cNvSpPr/>
          <p:nvPr/>
        </p:nvSpPr>
        <p:spPr>
          <a:xfrm>
            <a:off x="3456432"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828800"/>
            <a:ext cx="2286000" cy="4023360"/>
          </a:xfrm>
          <a:prstGeom prst="rect">
            <a:avLst/>
          </a:prstGeom>
          <a:noFill/>
        </p:spPr>
        <p:txBody>
          <a:bodyPr wrap="square">
            <a:spAutoFit/>
          </a:bodyPr>
          <a:lstStyle/>
          <a:p>
            <a:pPr>
              <a:spcAft>
                <a:spcPts val="400"/>
              </a:spcAft>
              <a:defRPr sz="1100" b="1">
                <a:solidFill>
                  <a:srgbClr val="06B6D4"/>
                </a:solidFill>
                <a:latin typeface="Segoe UI"/>
              </a:defRPr>
            </a:pPr>
            <a:r>
              <a:t>DOCTOR PORTAL</a:t>
            </a:r>
          </a:p>
          <a:p>
            <a:pPr>
              <a:spcAft>
                <a:spcPts val="1200"/>
              </a:spcAft>
              <a:defRPr sz="1500" b="1">
                <a:solidFill>
                  <a:srgbClr val="F8FAFC"/>
                </a:solidFill>
                <a:latin typeface="Segoe UI"/>
              </a:defRPr>
            </a:pPr>
            <a:r>
              <a:t>Dr. Aris Thorne, MD (Attending)</a:t>
            </a:r>
          </a:p>
          <a:p>
            <a:pPr>
              <a:spcAft>
                <a:spcPts val="1600"/>
              </a:spcAft>
              <a:defRPr sz="1100">
                <a:solidFill>
                  <a:srgbClr val="94A3B8"/>
                </a:solidFill>
                <a:latin typeface="Segoe UI"/>
              </a:defRPr>
            </a:pPr>
            <a:r>
              <a:t>Physician sign-off queue, clause evidence review, clinical override annotations, and 1-Click Electronic Signature transmission.</a:t>
            </a:r>
          </a:p>
          <a:p>
            <a:pPr>
              <a:spcAft>
                <a:spcPts val="600"/>
              </a:spcAft>
              <a:defRPr sz="1000" b="1">
                <a:solidFill>
                  <a:srgbClr val="F8FAFC"/>
                </a:solidFill>
                <a:latin typeface="Segoe UI"/>
              </a:defRPr>
            </a:pPr>
            <a:r>
              <a:t>HEALTHCARE IMPACT:</a:t>
            </a:r>
          </a:p>
          <a:p>
            <a:pPr>
              <a:spcAft>
                <a:spcPts val="400"/>
              </a:spcAft>
              <a:defRPr sz="1000">
                <a:solidFill>
                  <a:srgbClr val="94A3B8"/>
                </a:solidFill>
                <a:latin typeface="Segoe UI"/>
              </a:defRPr>
            </a:pPr>
            <a:r>
              <a:t>• 1-Click legal sign</a:t>
            </a:r>
          </a:p>
          <a:p>
            <a:pPr>
              <a:spcAft>
                <a:spcPts val="400"/>
              </a:spcAft>
              <a:defRPr sz="1000">
                <a:solidFill>
                  <a:srgbClr val="94A3B8"/>
                </a:solidFill>
                <a:latin typeface="Segoe UI"/>
              </a:defRPr>
            </a:pPr>
            <a:r>
              <a:t>• Audit compliance</a:t>
            </a:r>
          </a:p>
          <a:p>
            <a:pPr>
              <a:spcAft>
                <a:spcPts val="400"/>
              </a:spcAft>
              <a:defRPr sz="1000">
                <a:solidFill>
                  <a:srgbClr val="94A3B8"/>
                </a:solidFill>
                <a:latin typeface="Segoe UI"/>
              </a:defRPr>
            </a:pPr>
            <a:r>
              <a:t>• Full physician control</a:t>
            </a:r>
          </a:p>
        </p:txBody>
      </p:sp>
      <p:sp>
        <p:nvSpPr>
          <p:cNvPr id="10" name="Rounded Rectangle 9"/>
          <p:cNvSpPr/>
          <p:nvPr/>
        </p:nvSpPr>
        <p:spPr>
          <a:xfrm>
            <a:off x="6181344"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828800"/>
            <a:ext cx="2286000" cy="4023360"/>
          </a:xfrm>
          <a:prstGeom prst="rect">
            <a:avLst/>
          </a:prstGeom>
          <a:noFill/>
        </p:spPr>
        <p:txBody>
          <a:bodyPr wrap="square">
            <a:spAutoFit/>
          </a:bodyPr>
          <a:lstStyle/>
          <a:p>
            <a:pPr>
              <a:spcAft>
                <a:spcPts val="400"/>
              </a:spcAft>
              <a:defRPr sz="1100" b="1">
                <a:solidFill>
                  <a:srgbClr val="A855F7"/>
                </a:solidFill>
                <a:latin typeface="Segoe UI"/>
              </a:defRPr>
            </a:pPr>
            <a:r>
              <a:t>PATIENT PORTAL</a:t>
            </a:r>
          </a:p>
          <a:p>
            <a:pPr>
              <a:spcAft>
                <a:spcPts val="1200"/>
              </a:spcAft>
              <a:defRPr sz="1500" b="1">
                <a:solidFill>
                  <a:srgbClr val="F8FAFC"/>
                </a:solidFill>
                <a:latin typeface="Segoe UI"/>
              </a:defRPr>
            </a:pPr>
            <a:r>
              <a:t>Eleanor Vance (Patient View)</a:t>
            </a:r>
          </a:p>
          <a:p>
            <a:pPr>
              <a:spcAft>
                <a:spcPts val="1600"/>
              </a:spcAft>
              <a:defRPr sz="1100">
                <a:solidFill>
                  <a:srgbClr val="94A3B8"/>
                </a:solidFill>
                <a:latin typeface="Segoe UI"/>
              </a:defRPr>
            </a:pPr>
            <a:r>
              <a:t>Transparent coverage status, 6th-grade plain language explanation, multilingual translations (EN, ES, HI), and out-of-pocket estimates.</a:t>
            </a:r>
          </a:p>
          <a:p>
            <a:pPr>
              <a:spcAft>
                <a:spcPts val="600"/>
              </a:spcAft>
              <a:defRPr sz="1000" b="1">
                <a:solidFill>
                  <a:srgbClr val="F8FAFC"/>
                </a:solidFill>
                <a:latin typeface="Segoe UI"/>
              </a:defRPr>
            </a:pPr>
            <a:r>
              <a:t>HEALTHCARE IMPACT:</a:t>
            </a:r>
          </a:p>
          <a:p>
            <a:pPr>
              <a:spcAft>
                <a:spcPts val="400"/>
              </a:spcAft>
              <a:defRPr sz="1000">
                <a:solidFill>
                  <a:srgbClr val="94A3B8"/>
                </a:solidFill>
                <a:latin typeface="Segoe UI"/>
              </a:defRPr>
            </a:pPr>
            <a:r>
              <a:t>• Health equity focus</a:t>
            </a:r>
          </a:p>
          <a:p>
            <a:pPr>
              <a:spcAft>
                <a:spcPts val="400"/>
              </a:spcAft>
              <a:defRPr sz="1000">
                <a:solidFill>
                  <a:srgbClr val="94A3B8"/>
                </a:solidFill>
                <a:latin typeface="Segoe UI"/>
              </a:defRPr>
            </a:pPr>
            <a:r>
              <a:t>• Plain 6th-grade summary</a:t>
            </a:r>
          </a:p>
          <a:p>
            <a:pPr>
              <a:spcAft>
                <a:spcPts val="400"/>
              </a:spcAft>
              <a:defRPr sz="1000">
                <a:solidFill>
                  <a:srgbClr val="94A3B8"/>
                </a:solidFill>
                <a:latin typeface="Segoe UI"/>
              </a:defRPr>
            </a:pPr>
            <a:r>
              <a:t>• 3 languages supported</a:t>
            </a:r>
          </a:p>
        </p:txBody>
      </p:sp>
      <p:sp>
        <p:nvSpPr>
          <p:cNvPr id="12" name="Rounded Rectangle 11"/>
          <p:cNvSpPr/>
          <p:nvPr/>
        </p:nvSpPr>
        <p:spPr>
          <a:xfrm>
            <a:off x="8906256" y="1645920"/>
            <a:ext cx="2560320" cy="43891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828800"/>
            <a:ext cx="2286000" cy="4023360"/>
          </a:xfrm>
          <a:prstGeom prst="rect">
            <a:avLst/>
          </a:prstGeom>
          <a:noFill/>
        </p:spPr>
        <p:txBody>
          <a:bodyPr wrap="square">
            <a:spAutoFit/>
          </a:bodyPr>
          <a:lstStyle/>
          <a:p>
            <a:pPr>
              <a:spcAft>
                <a:spcPts val="400"/>
              </a:spcAft>
              <a:defRPr sz="1100" b="1">
                <a:solidFill>
                  <a:srgbClr val="EAB308"/>
                </a:solidFill>
                <a:latin typeface="Segoe UI"/>
              </a:defRPr>
            </a:pPr>
            <a:r>
              <a:t>LAB TECH PORTAL</a:t>
            </a:r>
          </a:p>
          <a:p>
            <a:pPr>
              <a:spcAft>
                <a:spcPts val="1200"/>
              </a:spcAft>
              <a:defRPr sz="1500" b="1">
                <a:solidFill>
                  <a:srgbClr val="F8FAFC"/>
                </a:solidFill>
                <a:latin typeface="Segoe UI"/>
              </a:defRPr>
            </a:pPr>
            <a:r>
              <a:t>Diagnostic &amp; PACS Ingestion</a:t>
            </a:r>
          </a:p>
          <a:p>
            <a:pPr>
              <a:spcAft>
                <a:spcPts val="1600"/>
              </a:spcAft>
              <a:defRPr sz="1100">
                <a:solidFill>
                  <a:srgbClr val="94A3B8"/>
                </a:solidFill>
                <a:latin typeface="Segoe UI"/>
              </a:defRPr>
            </a:pPr>
            <a:r>
              <a:t>Secure uploading of DICOM MRI scans, X-rays, pathology reports, and blood panels directly into the patient's EHR file.</a:t>
            </a:r>
          </a:p>
          <a:p>
            <a:pPr>
              <a:spcAft>
                <a:spcPts val="600"/>
              </a:spcAft>
              <a:defRPr sz="1000" b="1">
                <a:solidFill>
                  <a:srgbClr val="F8FAFC"/>
                </a:solidFill>
                <a:latin typeface="Segoe UI"/>
              </a:defRPr>
            </a:pPr>
            <a:r>
              <a:t>HEALTHCARE IMPACT:</a:t>
            </a:r>
          </a:p>
          <a:p>
            <a:pPr>
              <a:spcAft>
                <a:spcPts val="400"/>
              </a:spcAft>
              <a:defRPr sz="1000">
                <a:solidFill>
                  <a:srgbClr val="94A3B8"/>
                </a:solidFill>
                <a:latin typeface="Segoe UI"/>
              </a:defRPr>
            </a:pPr>
            <a:r>
              <a:t>• Direct DICOM feed</a:t>
            </a:r>
          </a:p>
          <a:p>
            <a:pPr>
              <a:spcAft>
                <a:spcPts val="400"/>
              </a:spcAft>
              <a:defRPr sz="1000">
                <a:solidFill>
                  <a:srgbClr val="94A3B8"/>
                </a:solidFill>
                <a:latin typeface="Segoe UI"/>
              </a:defRPr>
            </a:pPr>
            <a:r>
              <a:t>• Structured lab ingestion</a:t>
            </a:r>
          </a:p>
          <a:p>
            <a:pPr>
              <a:spcAft>
                <a:spcPts val="400"/>
              </a:spcAft>
              <a:defRPr sz="1000">
                <a:solidFill>
                  <a:srgbClr val="94A3B8"/>
                </a:solidFill>
                <a:latin typeface="Segoe UI"/>
              </a:defRPr>
            </a:pPr>
            <a:r>
              <a:t>• Immediate agent parsing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CLINICAL SAFETY &amp; ETHICS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Making Uncertainty Visible: The Clinical Confidence Matrix</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4718304" cy="4389120"/>
          </a:xfrm>
          <a:prstGeom prst="rect">
            <a:avLst/>
          </a:prstGeom>
          <a:noFill/>
        </p:spPr>
        <p:txBody>
          <a:bodyPr wrap="square">
            <a:spAutoFit/>
          </a:bodyPr>
          <a:lstStyle/>
          <a:p>
            <a:pPr>
              <a:spcAft>
                <a:spcPts val="600"/>
              </a:spcAft>
              <a:defRPr sz="1400" b="1">
                <a:solidFill>
                  <a:srgbClr val="EAB308"/>
                </a:solidFill>
                <a:latin typeface="Segoe UI"/>
              </a:defRPr>
            </a:pPr>
            <a:r>
              <a:t>EVIDENCE GAP &amp; CONFIDENCE TIERS</a:t>
            </a:r>
          </a:p>
          <a:p>
            <a:pPr>
              <a:spcAft>
                <a:spcPts val="1400"/>
              </a:spcAft>
              <a:defRPr sz="1800" b="1">
                <a:solidFill>
                  <a:srgbClr val="F8FAFC"/>
                </a:solidFill>
                <a:latin typeface="Segoe UI"/>
              </a:defRPr>
            </a:pPr>
            <a:r>
              <a:t>Eliminating Hallucinations in Patient Care</a:t>
            </a:r>
          </a:p>
          <a:p>
            <a:pPr>
              <a:spcAft>
                <a:spcPts val="200"/>
              </a:spcAft>
              <a:defRPr sz="1200" b="1">
                <a:solidFill>
                  <a:srgbClr val="22C55E"/>
                </a:solidFill>
                <a:latin typeface="Segoe UI"/>
              </a:defRPr>
            </a:pPr>
            <a:r>
              <a:t>■  GREEN TIER (&gt;= 90% Confidence)</a:t>
            </a:r>
          </a:p>
          <a:p>
            <a:pPr>
              <a:spcAft>
                <a:spcPts val="800"/>
              </a:spcAft>
              <a:defRPr sz="1100">
                <a:solidFill>
                  <a:srgbClr val="94A3B8"/>
                </a:solidFill>
                <a:latin typeface="Segoe UI"/>
              </a:defRPr>
            </a:pPr>
            <a:r>
              <a:t>Clean Auto-Approval: All policy clauses matched with unambiguous EHR proof (e.g., MRI tears, 6+ months PT). Instant electronic packet generation.</a:t>
            </a:r>
          </a:p>
          <a:p>
            <a:pPr>
              <a:spcAft>
                <a:spcPts val="200"/>
              </a:spcAft>
              <a:defRPr sz="1200" b="1">
                <a:solidFill>
                  <a:srgbClr val="EAB308"/>
                </a:solidFill>
                <a:latin typeface="Segoe UI"/>
              </a:defRPr>
            </a:pPr>
            <a:r>
              <a:t>■  YELLOW TIER (70% - 89% Confidence)</a:t>
            </a:r>
          </a:p>
          <a:p>
            <a:pPr>
              <a:spcAft>
                <a:spcPts val="800"/>
              </a:spcAft>
              <a:defRPr sz="1100">
                <a:solidFill>
                  <a:srgbClr val="94A3B8"/>
                </a:solidFill>
                <a:latin typeface="Segoe UI"/>
              </a:defRPr>
            </a:pPr>
            <a:r>
              <a:t>Uncertainty Escalation: Partial evidence or missing step-therapy detected. System stops auto-approval, highlights exact missing proof, and routes to Nurse Review Queue.</a:t>
            </a:r>
          </a:p>
          <a:p>
            <a:pPr>
              <a:spcAft>
                <a:spcPts val="200"/>
              </a:spcAft>
              <a:defRPr sz="1200" b="1">
                <a:solidFill>
                  <a:srgbClr val="ED1C24"/>
                </a:solidFill>
                <a:latin typeface="Segoe UI"/>
              </a:defRPr>
            </a:pPr>
            <a:r>
              <a:t>■  RED TIER (&lt; 70% Confidence)</a:t>
            </a:r>
          </a:p>
          <a:p>
            <a:pPr>
              <a:spcAft>
                <a:spcPts val="800"/>
              </a:spcAft>
              <a:defRPr sz="1100">
                <a:solidFill>
                  <a:srgbClr val="94A3B8"/>
                </a:solidFill>
                <a:latin typeface="Segoe UI"/>
              </a:defRPr>
            </a:pPr>
            <a:r>
              <a:t>Definite Policy Discrepancy: Contradiction found or therapy contraindicated. Autonomous drafting of cited appeal letter or recommended alternative pathway.</a:t>
            </a:r>
          </a:p>
        </p:txBody>
      </p:sp>
      <p:sp>
        <p:nvSpPr>
          <p:cNvPr id="8" name="Rounded Rectangle 7"/>
          <p:cNvSpPr/>
          <p:nvPr/>
        </p:nvSpPr>
        <p:spPr>
          <a:xfrm>
            <a:off x="6190488"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737360"/>
            <a:ext cx="4718304" cy="4389120"/>
          </a:xfrm>
          <a:prstGeom prst="rect">
            <a:avLst/>
          </a:prstGeom>
          <a:noFill/>
        </p:spPr>
        <p:txBody>
          <a:bodyPr wrap="square">
            <a:spAutoFit/>
          </a:bodyPr>
          <a:lstStyle/>
          <a:p>
            <a:pPr>
              <a:spcAft>
                <a:spcPts val="600"/>
              </a:spcAft>
              <a:defRPr sz="1400" b="1">
                <a:solidFill>
                  <a:srgbClr val="06B6D4"/>
                </a:solidFill>
                <a:latin typeface="Segoe UI"/>
              </a:defRPr>
            </a:pPr>
            <a:r>
              <a:t>HUMAN-IN-THE-LOOP CONTROL</a:t>
            </a:r>
          </a:p>
          <a:p>
            <a:pPr>
              <a:spcAft>
                <a:spcPts val="1400"/>
              </a:spcAft>
              <a:defRPr sz="1800" b="1">
                <a:solidFill>
                  <a:srgbClr val="F8FAFC"/>
                </a:solidFill>
                <a:latin typeface="Segoe UI"/>
              </a:defRPr>
            </a:pPr>
            <a:r>
              <a:t>Doctors Always Hold the Final Sign-Off</a:t>
            </a:r>
          </a:p>
          <a:p>
            <a:pPr>
              <a:spcAft>
                <a:spcPts val="1000"/>
              </a:spcAft>
              <a:defRPr sz="1200" b="1">
                <a:solidFill>
                  <a:srgbClr val="14B8A6"/>
                </a:solidFill>
                <a:latin typeface="Segoe UI"/>
              </a:defRPr>
            </a:pPr>
            <a:r>
              <a:t>✔  Actionable Remediation Guidance: </a:t>
            </a:r>
            <a:r>
              <a:rPr b="0">
                <a:solidFill>
                  <a:srgbClr val="94A3B8"/>
                </a:solidFill>
              </a:rPr>
              <a:t>Instead of a generic denial, the agent tells the clinic nurse: 'Upload proof of 3-month Methotrexate trial to achieve 95% approval.'</a:t>
            </a:r>
          </a:p>
          <a:p>
            <a:pPr>
              <a:spcAft>
                <a:spcPts val="1000"/>
              </a:spcAft>
              <a:defRPr sz="1200" b="1">
                <a:solidFill>
                  <a:srgbClr val="14B8A6"/>
                </a:solidFill>
                <a:latin typeface="Segoe UI"/>
              </a:defRPr>
            </a:pPr>
            <a:r>
              <a:t>✔  1-Click Physician Electronic Signature: </a:t>
            </a:r>
            <a:r>
              <a:rPr b="0">
                <a:solidFill>
                  <a:srgbClr val="94A3B8"/>
                </a:solidFill>
              </a:rPr>
              <a:t>The attending doctor reviews the highlighted clinical evidence and signs electronically with one click.</a:t>
            </a:r>
          </a:p>
          <a:p>
            <a:pPr>
              <a:spcAft>
                <a:spcPts val="1000"/>
              </a:spcAft>
              <a:defRPr sz="1200" b="1">
                <a:solidFill>
                  <a:srgbClr val="14B8A6"/>
                </a:solidFill>
                <a:latin typeface="Segoe UI"/>
              </a:defRPr>
            </a:pPr>
            <a:r>
              <a:t>✔  Immutable Audit Trail: </a:t>
            </a:r>
            <a:r>
              <a:rPr b="0">
                <a:solidFill>
                  <a:srgbClr val="94A3B8"/>
                </a:solidFill>
              </a:rPr>
              <a:t>Every agent decision, prompt trace, token speed, and human edit is permanently logged for HIPAA compliance and payer scrutiny.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LIVE DEMONSTRATION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Prototype Validation: The 3 Golden Clinical Scenarios</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4747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3108960" cy="4389120"/>
          </a:xfrm>
          <a:prstGeom prst="rect">
            <a:avLst/>
          </a:prstGeom>
          <a:noFill/>
        </p:spPr>
        <p:txBody>
          <a:bodyPr wrap="square">
            <a:spAutoFit/>
          </a:bodyPr>
          <a:lstStyle/>
          <a:p>
            <a:pPr>
              <a:spcAft>
                <a:spcPts val="200"/>
              </a:spcAft>
              <a:defRPr sz="1100" b="1">
                <a:solidFill>
                  <a:srgbClr val="22C55E"/>
                </a:solidFill>
                <a:latin typeface="Segoe UI"/>
              </a:defRPr>
            </a:pPr>
            <a:r>
              <a:t>CASE 1: KNEE ARTHROSCOPY</a:t>
            </a:r>
          </a:p>
          <a:p>
            <a:pPr>
              <a:spcAft>
                <a:spcPts val="400"/>
              </a:spcAft>
              <a:defRPr sz="1800" b="1">
                <a:solidFill>
                  <a:srgbClr val="F8FAFC"/>
                </a:solidFill>
                <a:latin typeface="Segoe UI"/>
              </a:defRPr>
            </a:pPr>
            <a:r>
              <a:t>Clean Auto-Approval</a:t>
            </a:r>
          </a:p>
          <a:p>
            <a:pPr>
              <a:spcAft>
                <a:spcPts val="1200"/>
              </a:spcAft>
              <a:defRPr sz="1100">
                <a:solidFill>
                  <a:srgbClr val="94A3B8"/>
                </a:solidFill>
                <a:latin typeface="Segoe UI"/>
              </a:defRPr>
            </a:pPr>
            <a:r>
              <a:t>CPT 29881 | Left Meniscectomy</a:t>
            </a:r>
          </a:p>
          <a:p>
            <a:pPr>
              <a:spcBef>
                <a:spcPts val="8500"/>
              </a:spcBef>
              <a:spcAft>
                <a:spcPts val="400"/>
              </a:spcAft>
              <a:defRPr sz="1100" b="1">
                <a:solidFill>
                  <a:srgbClr val="F8FAFC"/>
                </a:solidFill>
                <a:latin typeface="Segoe UI"/>
              </a:defRPr>
            </a:pPr>
            <a:r>
              <a:t>OUTCOME &amp; IMPACT:</a:t>
            </a:r>
          </a:p>
          <a:p>
            <a:pPr>
              <a:defRPr sz="1100">
                <a:solidFill>
                  <a:srgbClr val="94A3B8"/>
                </a:solidFill>
                <a:latin typeface="Segoe UI"/>
              </a:defRPr>
            </a:pPr>
            <a:r>
              <a:t>All 4 Anthem CG-SURG-01 criteria satisfied (6 mo PT, failed NSAIDs, MRI Grade III tear). Instant CMS-1500 packet generated.</a:t>
            </a:r>
          </a:p>
        </p:txBody>
      </p:sp>
      <p:sp>
        <p:nvSpPr>
          <p:cNvPr id="8" name="Rounded Rectangle 7"/>
          <p:cNvSpPr/>
          <p:nvPr/>
        </p:nvSpPr>
        <p:spPr>
          <a:xfrm>
            <a:off x="868680" y="2926080"/>
            <a:ext cx="3200400" cy="822960"/>
          </a:xfrm>
          <a:prstGeom prst="roundRect">
            <a:avLst/>
          </a:prstGeom>
          <a:solidFill>
            <a:srgbClr val="0F172A"/>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71800"/>
            <a:ext cx="3017520" cy="731520"/>
          </a:xfrm>
          <a:prstGeom prst="rect">
            <a:avLst/>
          </a:prstGeom>
          <a:noFill/>
        </p:spPr>
        <p:txBody>
          <a:bodyPr wrap="square">
            <a:spAutoFit/>
          </a:bodyPr>
          <a:lstStyle/>
          <a:p>
            <a:pPr>
              <a:defRPr sz="1100" b="1">
                <a:solidFill>
                  <a:srgbClr val="22C55E"/>
                </a:solidFill>
                <a:latin typeface="Segoe UI"/>
              </a:defRPr>
            </a:pPr>
            <a:r>
              <a:t>Confidence: 96% Confidence (Green)</a:t>
            </a:r>
          </a:p>
          <a:p>
            <a:pPr>
              <a:defRPr sz="1000">
                <a:solidFill>
                  <a:srgbClr val="94A3B8"/>
                </a:solidFill>
                <a:latin typeface="Segoe UI"/>
              </a:defRPr>
            </a:pPr>
            <a:r>
              <a:t>Execution Time: 11.4 Seconds on AMD MI300X</a:t>
            </a:r>
          </a:p>
        </p:txBody>
      </p:sp>
      <p:sp>
        <p:nvSpPr>
          <p:cNvPr id="10" name="Rounded Rectangle 9"/>
          <p:cNvSpPr/>
          <p:nvPr/>
        </p:nvSpPr>
        <p:spPr>
          <a:xfrm>
            <a:off x="4361688" y="1554480"/>
            <a:ext cx="34747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737360"/>
            <a:ext cx="3108960" cy="4389120"/>
          </a:xfrm>
          <a:prstGeom prst="rect">
            <a:avLst/>
          </a:prstGeom>
          <a:noFill/>
        </p:spPr>
        <p:txBody>
          <a:bodyPr wrap="square">
            <a:spAutoFit/>
          </a:bodyPr>
          <a:lstStyle/>
          <a:p>
            <a:pPr>
              <a:spcAft>
                <a:spcPts val="200"/>
              </a:spcAft>
              <a:defRPr sz="1100" b="1">
                <a:solidFill>
                  <a:srgbClr val="EAB308"/>
                </a:solidFill>
                <a:latin typeface="Segoe UI"/>
              </a:defRPr>
            </a:pPr>
            <a:r>
              <a:t>CASE 2: BIOLOGIC HUMIRA</a:t>
            </a:r>
          </a:p>
          <a:p>
            <a:pPr>
              <a:spcAft>
                <a:spcPts val="400"/>
              </a:spcAft>
              <a:defRPr sz="1800" b="1">
                <a:solidFill>
                  <a:srgbClr val="F8FAFC"/>
                </a:solidFill>
                <a:latin typeface="Segoe UI"/>
              </a:defRPr>
            </a:pPr>
            <a:r>
              <a:t>Step-Therapy Gap Detected</a:t>
            </a:r>
          </a:p>
          <a:p>
            <a:pPr>
              <a:spcAft>
                <a:spcPts val="1200"/>
              </a:spcAft>
              <a:defRPr sz="1100">
                <a:solidFill>
                  <a:srgbClr val="94A3B8"/>
                </a:solidFill>
                <a:latin typeface="Segoe UI"/>
              </a:defRPr>
            </a:pPr>
            <a:r>
              <a:t>HCPCS J0135 | Rheumatoid Arthritis</a:t>
            </a:r>
          </a:p>
          <a:p>
            <a:pPr>
              <a:spcBef>
                <a:spcPts val="8500"/>
              </a:spcBef>
              <a:spcAft>
                <a:spcPts val="400"/>
              </a:spcAft>
              <a:defRPr sz="1100" b="1">
                <a:solidFill>
                  <a:srgbClr val="F8FAFC"/>
                </a:solidFill>
                <a:latin typeface="Segoe UI"/>
              </a:defRPr>
            </a:pPr>
            <a:r>
              <a:t>OUTCOME &amp; IMPACT:</a:t>
            </a:r>
          </a:p>
          <a:p>
            <a:pPr>
              <a:defRPr sz="1100">
                <a:solidFill>
                  <a:srgbClr val="94A3B8"/>
                </a:solidFill>
                <a:latin typeface="Segoe UI"/>
              </a:defRPr>
            </a:pPr>
            <a:r>
              <a:t>Medicare LCD L33777 requires 3-month trial of conventional DMARD. Chart showed only Prednisone. Escalated to Nurse Queue.</a:t>
            </a:r>
          </a:p>
        </p:txBody>
      </p:sp>
      <p:sp>
        <p:nvSpPr>
          <p:cNvPr id="12" name="Rounded Rectangle 11"/>
          <p:cNvSpPr/>
          <p:nvPr/>
        </p:nvSpPr>
        <p:spPr>
          <a:xfrm>
            <a:off x="4498848" y="2926080"/>
            <a:ext cx="3200400" cy="822960"/>
          </a:xfrm>
          <a:prstGeom prst="roundRect">
            <a:avLst/>
          </a:prstGeom>
          <a:solidFill>
            <a:srgbClr val="0F172A"/>
          </a:solidFill>
          <a:ln w="127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971800"/>
            <a:ext cx="3017520" cy="731520"/>
          </a:xfrm>
          <a:prstGeom prst="rect">
            <a:avLst/>
          </a:prstGeom>
          <a:noFill/>
        </p:spPr>
        <p:txBody>
          <a:bodyPr wrap="square">
            <a:spAutoFit/>
          </a:bodyPr>
          <a:lstStyle/>
          <a:p>
            <a:pPr>
              <a:defRPr sz="1100" b="1">
                <a:solidFill>
                  <a:srgbClr val="EAB308"/>
                </a:solidFill>
                <a:latin typeface="Segoe UI"/>
              </a:defRPr>
            </a:pPr>
            <a:r>
              <a:t>Confidence: 64% Confidence (Yellow Alert)</a:t>
            </a:r>
          </a:p>
          <a:p>
            <a:pPr>
              <a:defRPr sz="1000">
                <a:solidFill>
                  <a:srgbClr val="94A3B8"/>
                </a:solidFill>
                <a:latin typeface="Segoe UI"/>
              </a:defRPr>
            </a:pPr>
            <a:r>
              <a:t>Execution Time: 14.2 Seconds on AMD MI300X</a:t>
            </a:r>
          </a:p>
        </p:txBody>
      </p:sp>
      <p:sp>
        <p:nvSpPr>
          <p:cNvPr id="14" name="Rounded Rectangle 13"/>
          <p:cNvSpPr/>
          <p:nvPr/>
        </p:nvSpPr>
        <p:spPr>
          <a:xfrm>
            <a:off x="7991856" y="1554480"/>
            <a:ext cx="34747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1737360"/>
            <a:ext cx="3108960" cy="4389120"/>
          </a:xfrm>
          <a:prstGeom prst="rect">
            <a:avLst/>
          </a:prstGeom>
          <a:noFill/>
        </p:spPr>
        <p:txBody>
          <a:bodyPr wrap="square">
            <a:spAutoFit/>
          </a:bodyPr>
          <a:lstStyle/>
          <a:p>
            <a:pPr>
              <a:spcAft>
                <a:spcPts val="200"/>
              </a:spcAft>
              <a:defRPr sz="1100" b="1">
                <a:solidFill>
                  <a:srgbClr val="06B6D4"/>
                </a:solidFill>
                <a:latin typeface="Segoe UI"/>
              </a:defRPr>
            </a:pPr>
            <a:r>
              <a:t>CASE 3: TERTIARY APPEAL</a:t>
            </a:r>
          </a:p>
          <a:p>
            <a:pPr>
              <a:spcAft>
                <a:spcPts val="400"/>
              </a:spcAft>
              <a:defRPr sz="1800" b="1">
                <a:solidFill>
                  <a:srgbClr val="F8FAFC"/>
                </a:solidFill>
                <a:latin typeface="Segoe UI"/>
              </a:defRPr>
            </a:pPr>
            <a:r>
              <a:t>Prior Denial Overturn</a:t>
            </a:r>
          </a:p>
          <a:p>
            <a:pPr>
              <a:spcAft>
                <a:spcPts val="1200"/>
              </a:spcAft>
              <a:defRPr sz="1100">
                <a:solidFill>
                  <a:srgbClr val="94A3B8"/>
                </a:solidFill>
                <a:latin typeface="Segoe UI"/>
              </a:defRPr>
            </a:pPr>
            <a:r>
              <a:t>Complex Inpatient Transfer</a:t>
            </a:r>
          </a:p>
          <a:p>
            <a:pPr>
              <a:spcBef>
                <a:spcPts val="8500"/>
              </a:spcBef>
              <a:spcAft>
                <a:spcPts val="400"/>
              </a:spcAft>
              <a:defRPr sz="1100" b="1">
                <a:solidFill>
                  <a:srgbClr val="F8FAFC"/>
                </a:solidFill>
                <a:latin typeface="Segoe UI"/>
              </a:defRPr>
            </a:pPr>
            <a:r>
              <a:t>OUTCOME &amp; IMPACT:</a:t>
            </a:r>
          </a:p>
          <a:p>
            <a:pPr>
              <a:defRPr sz="1100">
                <a:solidFill>
                  <a:srgbClr val="94A3B8"/>
                </a:solidFill>
                <a:latin typeface="Segoe UI"/>
              </a:defRPr>
            </a:pPr>
            <a:r>
              <a:t>Prior claim denied for lack of conservative therapy. Agent located statutory hepatic transaminitis exemption in 45-page chart.</a:t>
            </a:r>
          </a:p>
        </p:txBody>
      </p:sp>
      <p:sp>
        <p:nvSpPr>
          <p:cNvPr id="16" name="Rounded Rectangle 15"/>
          <p:cNvSpPr/>
          <p:nvPr/>
        </p:nvSpPr>
        <p:spPr>
          <a:xfrm>
            <a:off x="8129016" y="2926080"/>
            <a:ext cx="3200400" cy="82296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2971800"/>
            <a:ext cx="3017520" cy="731520"/>
          </a:xfrm>
          <a:prstGeom prst="rect">
            <a:avLst/>
          </a:prstGeom>
          <a:noFill/>
        </p:spPr>
        <p:txBody>
          <a:bodyPr wrap="square">
            <a:spAutoFit/>
          </a:bodyPr>
          <a:lstStyle/>
          <a:p>
            <a:pPr>
              <a:defRPr sz="1100" b="1">
                <a:solidFill>
                  <a:srgbClr val="06B6D4"/>
                </a:solidFill>
                <a:latin typeface="Segoe UI"/>
              </a:defRPr>
            </a:pPr>
            <a:r>
              <a:t>Confidence: 92% Overturn Score</a:t>
            </a:r>
          </a:p>
          <a:p>
            <a:pPr>
              <a:defRPr sz="1000">
                <a:solidFill>
                  <a:srgbClr val="94A3B8"/>
                </a:solidFill>
                <a:latin typeface="Segoe UI"/>
              </a:defRPr>
            </a:pPr>
            <a:r>
              <a:t>Execution Time: 18.1 Seconds on AMD MI300X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CLINICAL GOVERNANCE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Physician Oversight: 1-Click Sign-Off &amp; Transmit</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4718304" cy="4389120"/>
          </a:xfrm>
          <a:prstGeom prst="rect">
            <a:avLst/>
          </a:prstGeom>
          <a:noFill/>
        </p:spPr>
        <p:txBody>
          <a:bodyPr wrap="square">
            <a:spAutoFit/>
          </a:bodyPr>
          <a:lstStyle/>
          <a:p>
            <a:pPr>
              <a:spcAft>
                <a:spcPts val="600"/>
              </a:spcAft>
              <a:defRPr sz="1400" b="1">
                <a:solidFill>
                  <a:srgbClr val="06B6D4"/>
                </a:solidFill>
                <a:latin typeface="Segoe UI"/>
              </a:defRPr>
            </a:pPr>
            <a:r>
              <a:t>DOCTOR REVIEW QUEUE (DR. ARIS THORNE, MD)</a:t>
            </a:r>
          </a:p>
          <a:p>
            <a:pPr>
              <a:spcAft>
                <a:spcPts val="1400"/>
              </a:spcAft>
              <a:defRPr sz="1800" b="1">
                <a:solidFill>
                  <a:srgbClr val="F8FAFC"/>
                </a:solidFill>
                <a:latin typeface="Segoe UI"/>
              </a:defRPr>
            </a:pPr>
            <a:r>
              <a:t>Zero Faxes, Zero Wait, 100% Medical Authority</a:t>
            </a:r>
          </a:p>
          <a:p>
            <a:pPr>
              <a:spcAft>
                <a:spcPts val="1000"/>
              </a:spcAft>
              <a:defRPr sz="1200" b="1">
                <a:solidFill>
                  <a:srgbClr val="14B8A6"/>
                </a:solidFill>
                <a:latin typeface="Segoe UI"/>
              </a:defRPr>
            </a:pPr>
            <a:r>
              <a:t>✔  Evidence Clause Inspection: </a:t>
            </a:r>
            <a:r>
              <a:rPr b="0">
                <a:solidFill>
                  <a:srgbClr val="94A3B8"/>
                </a:solidFill>
              </a:rPr>
              <a:t>The physician sees exact page numbers, radiology quotes, and physical therapy dates mapped to payer policy clauses.</a:t>
            </a:r>
          </a:p>
          <a:p>
            <a:pPr>
              <a:spcAft>
                <a:spcPts val="1000"/>
              </a:spcAft>
              <a:defRPr sz="1200" b="1">
                <a:solidFill>
                  <a:srgbClr val="14B8A6"/>
                </a:solidFill>
                <a:latin typeface="Segoe UI"/>
              </a:defRPr>
            </a:pPr>
            <a:r>
              <a:t>✔  Clinical Comment Override: </a:t>
            </a:r>
            <a:r>
              <a:rPr b="0">
                <a:solidFill>
                  <a:srgbClr val="94A3B8"/>
                </a:solidFill>
              </a:rPr>
              <a:t>Physicians can append specific surgical urgency notes or override policy caveats with clinical justification.</a:t>
            </a:r>
          </a:p>
          <a:p>
            <a:pPr>
              <a:spcAft>
                <a:spcPts val="1000"/>
              </a:spcAft>
              <a:defRPr sz="1200" b="1">
                <a:solidFill>
                  <a:srgbClr val="14B8A6"/>
                </a:solidFill>
                <a:latin typeface="Segoe UI"/>
              </a:defRPr>
            </a:pPr>
            <a:r>
              <a:t>✔  1-Click Cryptographic Sign: </a:t>
            </a:r>
            <a:r>
              <a:rPr b="0">
                <a:solidFill>
                  <a:srgbClr val="94A3B8"/>
                </a:solidFill>
              </a:rPr>
              <a:t>Generates an electronic signature conforming to 42 CFR § 495.4 and state electronic prescribing standards.</a:t>
            </a:r>
          </a:p>
        </p:txBody>
      </p:sp>
      <p:sp>
        <p:nvSpPr>
          <p:cNvPr id="8" name="Rounded Rectangle 7"/>
          <p:cNvSpPr/>
          <p:nvPr/>
        </p:nvSpPr>
        <p:spPr>
          <a:xfrm>
            <a:off x="6190488"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737360"/>
            <a:ext cx="4718304" cy="4389120"/>
          </a:xfrm>
          <a:prstGeom prst="rect">
            <a:avLst/>
          </a:prstGeom>
          <a:noFill/>
        </p:spPr>
        <p:txBody>
          <a:bodyPr wrap="square">
            <a:spAutoFit/>
          </a:bodyPr>
          <a:lstStyle/>
          <a:p>
            <a:pPr>
              <a:spcAft>
                <a:spcPts val="600"/>
              </a:spcAft>
              <a:defRPr sz="1400" b="1">
                <a:solidFill>
                  <a:srgbClr val="22C55E"/>
                </a:solidFill>
                <a:latin typeface="Segoe UI"/>
              </a:defRPr>
            </a:pPr>
            <a:r>
              <a:t>CLEARINGHOUSE TRANSMISSION &amp; AUDITING</a:t>
            </a:r>
          </a:p>
          <a:p>
            <a:pPr>
              <a:spcAft>
                <a:spcPts val="1400"/>
              </a:spcAft>
              <a:defRPr sz="1800" b="1">
                <a:solidFill>
                  <a:srgbClr val="F8FAFC"/>
                </a:solidFill>
                <a:latin typeface="Segoe UI"/>
              </a:defRPr>
            </a:pPr>
            <a:r>
              <a:t>Instant Electronic Payer Submission</a:t>
            </a:r>
          </a:p>
          <a:p>
            <a:pPr>
              <a:spcAft>
                <a:spcPts val="1000"/>
              </a:spcAft>
              <a:defRPr sz="1200" b="1">
                <a:solidFill>
                  <a:srgbClr val="22C55E"/>
                </a:solidFill>
                <a:latin typeface="Segoe UI"/>
              </a:defRPr>
            </a:pPr>
            <a:r>
              <a:t>⚡  Direct EDI 278 Packet Creation: </a:t>
            </a:r>
            <a:r>
              <a:rPr b="0">
                <a:solidFill>
                  <a:srgbClr val="94A3B8"/>
                </a:solidFill>
              </a:rPr>
              <a:t>Converts clinical notes into formal ANSI X12 278 healthcare services review transactions.</a:t>
            </a:r>
          </a:p>
          <a:p>
            <a:pPr>
              <a:spcAft>
                <a:spcPts val="1000"/>
              </a:spcAft>
              <a:defRPr sz="1200" b="1">
                <a:solidFill>
                  <a:srgbClr val="22C55E"/>
                </a:solidFill>
                <a:latin typeface="Segoe UI"/>
              </a:defRPr>
            </a:pPr>
            <a:r>
              <a:t>⚡  Immutable Ledger Logging: </a:t>
            </a:r>
            <a:r>
              <a:rPr b="0">
                <a:solidFill>
                  <a:srgbClr val="94A3B8"/>
                </a:solidFill>
              </a:rPr>
              <a:t>Every agent prompt, confidence calculation, hardware telemetry snapshot, and human approval is timestamped.</a:t>
            </a:r>
          </a:p>
          <a:p>
            <a:pPr>
              <a:spcAft>
                <a:spcPts val="1000"/>
              </a:spcAft>
              <a:defRPr sz="1200" b="1">
                <a:solidFill>
                  <a:srgbClr val="22C55E"/>
                </a:solidFill>
                <a:latin typeface="Segoe UI"/>
              </a:defRPr>
            </a:pPr>
            <a:r>
              <a:t>⚡  Audit-Proof Traceability: </a:t>
            </a:r>
            <a:r>
              <a:rPr b="0">
                <a:solidFill>
                  <a:srgbClr val="94A3B8"/>
                </a:solidFill>
              </a:rPr>
              <a:t>Hospital compliance officers can replay any prior-auth decision years later with complete proof.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HEALTH EQUITY &amp; ACCESSIBILITY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Patient Empowerment &amp; Multilingual Health Equity</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4718304" cy="4389120"/>
          </a:xfrm>
          <a:prstGeom prst="rect">
            <a:avLst/>
          </a:prstGeom>
          <a:noFill/>
        </p:spPr>
        <p:txBody>
          <a:bodyPr wrap="square">
            <a:spAutoFit/>
          </a:bodyPr>
          <a:lstStyle/>
          <a:p>
            <a:pPr>
              <a:spcAft>
                <a:spcPts val="600"/>
              </a:spcAft>
              <a:defRPr sz="1400" b="1">
                <a:solidFill>
                  <a:srgbClr val="ED1C24"/>
                </a:solidFill>
                <a:latin typeface="Segoe UI"/>
              </a:defRPr>
            </a:pPr>
            <a:r>
              <a:t>TRADITIONAL PAYER LETTERS</a:t>
            </a:r>
          </a:p>
          <a:p>
            <a:pPr>
              <a:spcAft>
                <a:spcPts val="1400"/>
              </a:spcAft>
              <a:defRPr sz="1800" b="1">
                <a:solidFill>
                  <a:srgbClr val="F8FAFC"/>
                </a:solidFill>
                <a:latin typeface="Segoe UI"/>
              </a:defRPr>
            </a:pPr>
            <a:r>
              <a:t>Confusing Jargon &amp; Patient Anxiety</a:t>
            </a:r>
          </a:p>
          <a:p>
            <a:pPr>
              <a:spcAft>
                <a:spcPts val="600"/>
              </a:spcAft>
              <a:defRPr sz="1200" b="1">
                <a:solidFill>
                  <a:srgbClr val="EAB308"/>
                </a:solidFill>
                <a:latin typeface="Segoe UI"/>
              </a:defRPr>
            </a:pPr>
            <a:r>
              <a:t>Typical Insurance Denial Letter (Real Example):</a:t>
            </a:r>
          </a:p>
          <a:p>
            <a:pPr>
              <a:spcBef>
                <a:spcPts val="11000"/>
              </a:spcBef>
              <a:defRPr sz="1200">
                <a:solidFill>
                  <a:srgbClr val="94A3B8"/>
                </a:solidFill>
                <a:latin typeface="Segoe UI"/>
              </a:defRPr>
            </a:pPr>
            <a:r>
              <a:t>The Result: 90% of patients do not understand why their care was denied, leading to panic, missed appointments, and worsened clinical outcomes.</a:t>
            </a:r>
          </a:p>
        </p:txBody>
      </p:sp>
      <p:sp>
        <p:nvSpPr>
          <p:cNvPr id="8" name="Rounded Rectangle 7"/>
          <p:cNvSpPr/>
          <p:nvPr/>
        </p:nvSpPr>
        <p:spPr>
          <a:xfrm>
            <a:off x="1005840" y="2926080"/>
            <a:ext cx="4718304" cy="16459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i="1">
                <a:solidFill>
                  <a:srgbClr val="94A3B8"/>
                </a:solidFill>
                <a:latin typeface="Segoe UI"/>
              </a:defRPr>
            </a:pPr>
            <a:r>
              <a:t>"Coverage for CPT 29881 is denied pursuant to CG-SURG-01 §3.b.ii due to failure to demonstrate exhaustion of conservative physical medicine modalities and non-congruent radiologic MRI documentation of chondromalacia patellae."</a:t>
            </a:r>
          </a:p>
        </p:txBody>
      </p:sp>
      <p:sp>
        <p:nvSpPr>
          <p:cNvPr id="9" name="Rounded Rectangle 8"/>
          <p:cNvSpPr/>
          <p:nvPr/>
        </p:nvSpPr>
        <p:spPr>
          <a:xfrm>
            <a:off x="6190488" y="1554480"/>
            <a:ext cx="5266944"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737360"/>
            <a:ext cx="4718304" cy="4389120"/>
          </a:xfrm>
          <a:prstGeom prst="rect">
            <a:avLst/>
          </a:prstGeom>
          <a:noFill/>
        </p:spPr>
        <p:txBody>
          <a:bodyPr wrap="square">
            <a:spAutoFit/>
          </a:bodyPr>
          <a:lstStyle/>
          <a:p>
            <a:pPr>
              <a:spcAft>
                <a:spcPts val="600"/>
              </a:spcAft>
              <a:defRPr sz="1400" b="1">
                <a:solidFill>
                  <a:srgbClr val="14B8A6"/>
                </a:solidFill>
                <a:latin typeface="Segoe UI"/>
              </a:defRPr>
            </a:pPr>
            <a:r>
              <a:t>CAREAUTH-ROCM PATIENT TAB</a:t>
            </a:r>
          </a:p>
          <a:p>
            <a:pPr>
              <a:spcAft>
                <a:spcPts val="1400"/>
              </a:spcAft>
              <a:defRPr sz="1800" b="1">
                <a:solidFill>
                  <a:srgbClr val="F8FAFC"/>
                </a:solidFill>
                <a:latin typeface="Segoe UI"/>
              </a:defRPr>
            </a:pPr>
            <a:r>
              <a:t>6th-Grade Reading Level in 3 Languages</a:t>
            </a:r>
          </a:p>
          <a:p>
            <a:pPr>
              <a:spcAft>
                <a:spcPts val="200"/>
              </a:spcAft>
              <a:defRPr sz="1200" b="1">
                <a:solidFill>
                  <a:srgbClr val="06B6D4"/>
                </a:solidFill>
                <a:latin typeface="Segoe UI"/>
              </a:defRPr>
            </a:pPr>
            <a:r>
              <a:t>English Summary: </a:t>
            </a:r>
          </a:p>
          <a:p>
            <a:pPr>
              <a:spcAft>
                <a:spcPts val="800"/>
              </a:spcAft>
              <a:defRPr sz="1100">
                <a:solidFill>
                  <a:srgbClr val="94A3B8"/>
                </a:solidFill>
                <a:latin typeface="Segoe UI"/>
              </a:defRPr>
            </a:pPr>
            <a:r>
              <a:t>"Good news! Your knee surgery has been approved. Your doctor showed you did 6 months of physical therapy and your MRI confirmed a torn meniscus."</a:t>
            </a:r>
          </a:p>
          <a:p>
            <a:pPr>
              <a:spcAft>
                <a:spcPts val="200"/>
              </a:spcAft>
              <a:defRPr sz="1200" b="1">
                <a:solidFill>
                  <a:srgbClr val="06B6D4"/>
                </a:solidFill>
                <a:latin typeface="Segoe UI"/>
              </a:defRPr>
            </a:pPr>
            <a:r>
              <a:t>Español (Spanish): </a:t>
            </a:r>
          </a:p>
          <a:p>
            <a:pPr>
              <a:spcAft>
                <a:spcPts val="800"/>
              </a:spcAft>
              <a:defRPr sz="1100">
                <a:solidFill>
                  <a:srgbClr val="94A3B8"/>
                </a:solidFill>
                <a:latin typeface="Segoe UI"/>
              </a:defRPr>
            </a:pPr>
            <a:r>
              <a:t>"¡Buenas noticias! Su cirugía de rodilla ha sido aprobada. Su médico demostró que completó 6 meses de fisioterapia y su resonancia confirmó un desgarro de menisco."</a:t>
            </a:r>
          </a:p>
          <a:p>
            <a:pPr>
              <a:spcAft>
                <a:spcPts val="200"/>
              </a:spcAft>
              <a:defRPr sz="1200" b="1">
                <a:solidFill>
                  <a:srgbClr val="06B6D4"/>
                </a:solidFill>
                <a:latin typeface="Segoe UI"/>
              </a:defRPr>
            </a:pPr>
            <a:r>
              <a:t>हिंदी (Hindi): </a:t>
            </a:r>
          </a:p>
          <a:p>
            <a:pPr>
              <a:spcAft>
                <a:spcPts val="800"/>
              </a:spcAft>
              <a:defRPr sz="1100">
                <a:solidFill>
                  <a:srgbClr val="94A3B8"/>
                </a:solidFill>
                <a:latin typeface="Segoe UI"/>
              </a:defRPr>
            </a:pPr>
            <a:r>
              <a:t>"अच्छी खबर! आपकी घुटने की सर्जरी स्वीकृत हो गई है। आपके डॉक्टर ने दिखाया कि आपने 6 महीने फिजियोथेरेपी पूरी की और एमआरआई में मेनिस्कस टियर की पुष्टि हुई।"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AMD HARDWARE BENCHMARKS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AMD Instinct™ MI300X: Why Silicon Matters in Healthcare</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6032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37360"/>
            <a:ext cx="2286000" cy="2011680"/>
          </a:xfrm>
          <a:prstGeom prst="rect">
            <a:avLst/>
          </a:prstGeom>
          <a:noFill/>
        </p:spPr>
        <p:txBody>
          <a:bodyPr wrap="square">
            <a:spAutoFit/>
          </a:bodyPr>
          <a:lstStyle/>
          <a:p>
            <a:pPr>
              <a:spcAft>
                <a:spcPts val="200"/>
              </a:spcAft>
              <a:defRPr sz="2200" b="1">
                <a:solidFill>
                  <a:srgbClr val="ED1C24"/>
                </a:solidFill>
                <a:latin typeface="Segoe UI"/>
              </a:defRPr>
            </a:pPr>
            <a:r>
              <a:t>192 GB HBM3</a:t>
            </a:r>
          </a:p>
          <a:p>
            <a:pPr>
              <a:spcAft>
                <a:spcPts val="600"/>
              </a:spcAft>
              <a:defRPr sz="1100" b="1">
                <a:solidFill>
                  <a:srgbClr val="F8FAFC"/>
                </a:solidFill>
                <a:latin typeface="Segoe UI"/>
              </a:defRPr>
            </a:pPr>
            <a:r>
              <a:t>ZERO LOSSY CHUNKING</a:t>
            </a:r>
          </a:p>
          <a:p>
            <a:pPr>
              <a:defRPr sz="1100">
                <a:solidFill>
                  <a:srgbClr val="94A3B8"/>
                </a:solidFill>
                <a:latin typeface="Segoe UI"/>
              </a:defRPr>
            </a:pPr>
            <a:r>
              <a:t>Allows holding entire 45-page patient records and 80-page payer manuals simultaneously in high-bandwidth memory.</a:t>
            </a:r>
          </a:p>
        </p:txBody>
      </p:sp>
      <p:sp>
        <p:nvSpPr>
          <p:cNvPr id="8" name="Rounded Rectangle 7"/>
          <p:cNvSpPr/>
          <p:nvPr/>
        </p:nvSpPr>
        <p:spPr>
          <a:xfrm>
            <a:off x="3456432" y="1645920"/>
            <a:ext cx="256032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737360"/>
            <a:ext cx="2286000" cy="2011680"/>
          </a:xfrm>
          <a:prstGeom prst="rect">
            <a:avLst/>
          </a:prstGeom>
          <a:noFill/>
        </p:spPr>
        <p:txBody>
          <a:bodyPr wrap="square">
            <a:spAutoFit/>
          </a:bodyPr>
          <a:lstStyle/>
          <a:p>
            <a:pPr>
              <a:spcAft>
                <a:spcPts val="200"/>
              </a:spcAft>
              <a:defRPr sz="2200" b="1">
                <a:solidFill>
                  <a:srgbClr val="06B6D4"/>
                </a:solidFill>
                <a:latin typeface="Segoe UI"/>
              </a:defRPr>
            </a:pPr>
            <a:r>
              <a:t>86.4 tok / sec</a:t>
            </a:r>
          </a:p>
          <a:p>
            <a:pPr>
              <a:spcAft>
                <a:spcPts val="600"/>
              </a:spcAft>
              <a:defRPr sz="1100" b="1">
                <a:solidFill>
                  <a:srgbClr val="F8FAFC"/>
                </a:solidFill>
                <a:latin typeface="Segoe UI"/>
              </a:defRPr>
            </a:pPr>
            <a:r>
              <a:t>SUSTAINED INFERENCE</a:t>
            </a:r>
          </a:p>
          <a:p>
            <a:pPr>
              <a:defRPr sz="1100">
                <a:solidFill>
                  <a:srgbClr val="94A3B8"/>
                </a:solidFill>
                <a:latin typeface="Segoe UI"/>
              </a:defRPr>
            </a:pPr>
            <a:r>
              <a:t>High-throughput token generation allows multi-agent cross-referencing in under 12 seconds per case.</a:t>
            </a:r>
          </a:p>
        </p:txBody>
      </p:sp>
      <p:sp>
        <p:nvSpPr>
          <p:cNvPr id="10" name="Rounded Rectangle 9"/>
          <p:cNvSpPr/>
          <p:nvPr/>
        </p:nvSpPr>
        <p:spPr>
          <a:xfrm>
            <a:off x="6181344" y="1645920"/>
            <a:ext cx="256032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737360"/>
            <a:ext cx="2286000" cy="2011680"/>
          </a:xfrm>
          <a:prstGeom prst="rect">
            <a:avLst/>
          </a:prstGeom>
          <a:noFill/>
        </p:spPr>
        <p:txBody>
          <a:bodyPr wrap="square">
            <a:spAutoFit/>
          </a:bodyPr>
          <a:lstStyle/>
          <a:p>
            <a:pPr>
              <a:spcAft>
                <a:spcPts val="200"/>
              </a:spcAft>
              <a:defRPr sz="2200" b="1">
                <a:solidFill>
                  <a:srgbClr val="14B8A6"/>
                </a:solidFill>
                <a:latin typeface="Segoe UI"/>
              </a:defRPr>
            </a:pPr>
            <a:r>
              <a:t>192 ms TTFT</a:t>
            </a:r>
          </a:p>
          <a:p>
            <a:pPr>
              <a:spcAft>
                <a:spcPts val="600"/>
              </a:spcAft>
              <a:defRPr sz="1100" b="1">
                <a:solidFill>
                  <a:srgbClr val="F8FAFC"/>
                </a:solidFill>
                <a:latin typeface="Segoe UI"/>
              </a:defRPr>
            </a:pPr>
            <a:r>
              <a:t>TIME-TO-FIRST-TOKEN</a:t>
            </a:r>
          </a:p>
          <a:p>
            <a:pPr>
              <a:defRPr sz="1100">
                <a:solidFill>
                  <a:srgbClr val="94A3B8"/>
                </a:solidFill>
                <a:latin typeface="Segoe UI"/>
              </a:defRPr>
            </a:pPr>
            <a:r>
              <a:t>Instantaneous clinical responsiveness, enabling interactive doctor review without UI freezing.</a:t>
            </a:r>
          </a:p>
        </p:txBody>
      </p:sp>
      <p:sp>
        <p:nvSpPr>
          <p:cNvPr id="12" name="Rounded Rectangle 11"/>
          <p:cNvSpPr/>
          <p:nvPr/>
        </p:nvSpPr>
        <p:spPr>
          <a:xfrm>
            <a:off x="8906256" y="1645920"/>
            <a:ext cx="2560320"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737360"/>
            <a:ext cx="2286000" cy="2011680"/>
          </a:xfrm>
          <a:prstGeom prst="rect">
            <a:avLst/>
          </a:prstGeom>
          <a:noFill/>
        </p:spPr>
        <p:txBody>
          <a:bodyPr wrap="square">
            <a:spAutoFit/>
          </a:bodyPr>
          <a:lstStyle/>
          <a:p>
            <a:pPr>
              <a:spcAft>
                <a:spcPts val="200"/>
              </a:spcAft>
              <a:defRPr sz="2200" b="1">
                <a:solidFill>
                  <a:srgbClr val="22C55E"/>
                </a:solidFill>
                <a:latin typeface="Segoe UI"/>
              </a:defRPr>
            </a:pPr>
            <a:r>
              <a:t>100% On-Prem</a:t>
            </a:r>
          </a:p>
          <a:p>
            <a:pPr>
              <a:spcAft>
                <a:spcPts val="600"/>
              </a:spcAft>
              <a:defRPr sz="1100" b="1">
                <a:solidFill>
                  <a:srgbClr val="F8FAFC"/>
                </a:solidFill>
                <a:latin typeface="Segoe UI"/>
              </a:defRPr>
            </a:pPr>
            <a:r>
              <a:t>HIPAA COMPLIANT</a:t>
            </a:r>
          </a:p>
          <a:p>
            <a:pPr>
              <a:defRPr sz="1100">
                <a:solidFill>
                  <a:srgbClr val="94A3B8"/>
                </a:solidFill>
                <a:latin typeface="Segoe UI"/>
              </a:defRPr>
            </a:pPr>
            <a:r>
              <a:t>Guaranteed local hardware boundary prevents patient health data from ever touching third-party clouds.</a:t>
            </a:r>
          </a:p>
        </p:txBody>
      </p:sp>
      <p:sp>
        <p:nvSpPr>
          <p:cNvPr id="14" name="Rounded Rectangle 13"/>
          <p:cNvSpPr/>
          <p:nvPr/>
        </p:nvSpPr>
        <p:spPr>
          <a:xfrm>
            <a:off x="731520" y="4114800"/>
            <a:ext cx="10728655" cy="219456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206240"/>
            <a:ext cx="10149840" cy="2011680"/>
          </a:xfrm>
          <a:prstGeom prst="rect">
            <a:avLst/>
          </a:prstGeom>
          <a:noFill/>
        </p:spPr>
        <p:txBody>
          <a:bodyPr wrap="square">
            <a:spAutoFit/>
          </a:bodyPr>
          <a:lstStyle/>
          <a:p>
            <a:pPr>
              <a:spcAft>
                <a:spcPts val="800"/>
              </a:spcAft>
              <a:defRPr sz="1200" b="1">
                <a:solidFill>
                  <a:srgbClr val="06B6D4"/>
                </a:solidFill>
                <a:latin typeface="Segoe UI"/>
              </a:defRPr>
            </a:pPr>
            <a:r>
              <a:t>ROCm SOFTWARE STACK &amp; DEPLOYMENT ARCHITECTURE</a:t>
            </a:r>
          </a:p>
          <a:p>
            <a:pPr>
              <a:spcAft>
                <a:spcPts val="600"/>
              </a:spcAft>
              <a:defRPr sz="1300" b="1">
                <a:solidFill>
                  <a:srgbClr val="F8FAFC"/>
                </a:solidFill>
                <a:latin typeface="Segoe UI"/>
              </a:defRPr>
            </a:pPr>
            <a:r>
              <a:t>•  vLLM on ROCm 6.2: </a:t>
            </a:r>
            <a:r>
              <a:rPr b="0">
                <a:solidFill>
                  <a:srgbClr val="94A3B8"/>
                </a:solidFill>
              </a:rPr>
              <a:t>Leverages PagedAttention and FlashAttention-2 optimized for AMD CDNA 3 matrix cores.</a:t>
            </a:r>
          </a:p>
          <a:p>
            <a:pPr>
              <a:spcAft>
                <a:spcPts val="600"/>
              </a:spcAft>
              <a:defRPr sz="1300" b="1">
                <a:solidFill>
                  <a:srgbClr val="F8FAFC"/>
                </a:solidFill>
                <a:latin typeface="Segoe UI"/>
              </a:defRPr>
            </a:pPr>
            <a:r>
              <a:t>•  Dynamic Model Selection: </a:t>
            </a:r>
            <a:r>
              <a:rPr b="0">
                <a:solidFill>
                  <a:srgbClr val="94A3B8"/>
                </a:solidFill>
              </a:rPr>
              <a:t>Lightweight Llama-3.1-8B for instant entity extraction; Qwen-2.5-14B/70B for multi-clause clinical reasoning and appeal drafting.</a:t>
            </a:r>
          </a:p>
          <a:p>
            <a:pPr>
              <a:spcAft>
                <a:spcPts val="600"/>
              </a:spcAft>
              <a:defRPr sz="1300" b="1">
                <a:solidFill>
                  <a:srgbClr val="F8FAFC"/>
                </a:solidFill>
                <a:latin typeface="Segoe UI"/>
              </a:defRPr>
            </a:pPr>
            <a:r>
              <a:t>•  Production Telemetry HUD: </a:t>
            </a:r>
            <a:r>
              <a:rPr b="0">
                <a:solidFill>
                  <a:srgbClr val="94A3B8"/>
                </a:solidFill>
              </a:rPr>
              <a:t>Real-time monitoring of GPU VRAM utilization (14.8/192 GB), generation speed, and prompt latency embedded in the clinical portal.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BUSINESS &amp; CLINICAL VALUE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Measurable Impact &amp; Clinical ROI</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685800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6309360" cy="4389120"/>
          </a:xfrm>
          <a:prstGeom prst="rect">
            <a:avLst/>
          </a:prstGeom>
          <a:noFill/>
        </p:spPr>
        <p:txBody>
          <a:bodyPr wrap="square">
            <a:spAutoFit/>
          </a:bodyPr>
          <a:lstStyle/>
          <a:p>
            <a:pPr>
              <a:spcAft>
                <a:spcPts val="1000"/>
              </a:spcAft>
              <a:defRPr sz="1300" b="1">
                <a:solidFill>
                  <a:srgbClr val="06B6D4"/>
                </a:solidFill>
                <a:latin typeface="Segoe UI"/>
              </a:defRPr>
            </a:pPr>
            <a:r>
              <a:t>BENCHMARK: MANUAL VS. CAREAUTH-ROCM</a:t>
            </a:r>
          </a:p>
          <a:p>
            <a:pPr>
              <a:spcAft>
                <a:spcPts val="1200"/>
              </a:spcAft>
              <a:defRPr sz="1200" b="1">
                <a:solidFill>
                  <a:srgbClr val="F8FAFC"/>
                </a:solidFill>
                <a:latin typeface="Segoe UI"/>
              </a:defRPr>
            </a:pPr>
            <a:r>
              <a:t>• Review Time per Case: </a:t>
            </a:r>
            <a:r>
              <a:rPr b="0">
                <a:solidFill>
                  <a:srgbClr val="94A3B8"/>
                </a:solidFill>
              </a:rPr>
              <a:t>45 Minutes  ➔  </a:t>
            </a:r>
            <a:r>
              <a:rPr b="1">
                <a:solidFill>
                  <a:srgbClr val="14B8A6"/>
                </a:solidFill>
              </a:rPr>
              <a:t>11.4 Seconds </a:t>
            </a:r>
            <a:r>
              <a:rPr b="1">
                <a:solidFill>
                  <a:srgbClr val="22C55E"/>
                </a:solidFill>
              </a:rPr>
              <a:t>(98.6% Reduction)</a:t>
            </a:r>
          </a:p>
          <a:p>
            <a:pPr>
              <a:spcAft>
                <a:spcPts val="1200"/>
              </a:spcAft>
              <a:defRPr sz="1200" b="1">
                <a:solidFill>
                  <a:srgbClr val="F8FAFC"/>
                </a:solidFill>
                <a:latin typeface="Segoe UI"/>
              </a:defRPr>
            </a:pPr>
            <a:r>
              <a:t>• Turnaround to Payer: </a:t>
            </a:r>
            <a:r>
              <a:rPr b="0">
                <a:solidFill>
                  <a:srgbClr val="94A3B8"/>
                </a:solidFill>
              </a:rPr>
              <a:t>3 to 7 Days  ➔  </a:t>
            </a:r>
            <a:r>
              <a:rPr b="1">
                <a:solidFill>
                  <a:srgbClr val="14B8A6"/>
                </a:solidFill>
              </a:rPr>
              <a:t>Instant Electronic </a:t>
            </a:r>
            <a:r>
              <a:rPr b="1">
                <a:solidFill>
                  <a:srgbClr val="22C55E"/>
                </a:solidFill>
              </a:rPr>
              <a:t>(Real-Time Packet)</a:t>
            </a:r>
          </a:p>
          <a:p>
            <a:pPr>
              <a:spcAft>
                <a:spcPts val="1200"/>
              </a:spcAft>
              <a:defRPr sz="1200" b="1">
                <a:solidFill>
                  <a:srgbClr val="F8FAFC"/>
                </a:solidFill>
                <a:latin typeface="Segoe UI"/>
              </a:defRPr>
            </a:pPr>
            <a:r>
              <a:t>• Policy Search Overhead: </a:t>
            </a:r>
            <a:r>
              <a:rPr b="0">
                <a:solidFill>
                  <a:srgbClr val="94A3B8"/>
                </a:solidFill>
              </a:rPr>
              <a:t>Manual 80-pg PDF  ➔  </a:t>
            </a:r>
            <a:r>
              <a:rPr b="1">
                <a:solidFill>
                  <a:srgbClr val="14B8A6"/>
                </a:solidFill>
              </a:rPr>
              <a:t>&lt;150ms Vector Search </a:t>
            </a:r>
            <a:r>
              <a:rPr b="1">
                <a:solidFill>
                  <a:srgbClr val="22C55E"/>
                </a:solidFill>
              </a:rPr>
              <a:t>(99% Faster Lookup)</a:t>
            </a:r>
          </a:p>
          <a:p>
            <a:pPr>
              <a:spcAft>
                <a:spcPts val="1200"/>
              </a:spcAft>
              <a:defRPr sz="1200" b="1">
                <a:solidFill>
                  <a:srgbClr val="F8FAFC"/>
                </a:solidFill>
                <a:latin typeface="Segoe UI"/>
              </a:defRPr>
            </a:pPr>
            <a:r>
              <a:t>• Missing Step-Therapy: </a:t>
            </a:r>
            <a:r>
              <a:rPr b="0">
                <a:solidFill>
                  <a:srgbClr val="94A3B8"/>
                </a:solidFill>
              </a:rPr>
              <a:t>Payer Denial (Week delay)  ➔  </a:t>
            </a:r>
            <a:r>
              <a:rPr b="1">
                <a:solidFill>
                  <a:srgbClr val="14B8A6"/>
                </a:solidFill>
              </a:rPr>
              <a:t>Pre-submission Alert </a:t>
            </a:r>
            <a:r>
              <a:rPr b="1">
                <a:solidFill>
                  <a:srgbClr val="22C55E"/>
                </a:solidFill>
              </a:rPr>
              <a:t>(Zero Denial Delays)</a:t>
            </a:r>
          </a:p>
          <a:p>
            <a:pPr>
              <a:spcAft>
                <a:spcPts val="1200"/>
              </a:spcAft>
              <a:defRPr sz="1200" b="1">
                <a:solidFill>
                  <a:srgbClr val="F8FAFC"/>
                </a:solidFill>
                <a:latin typeface="Segoe UI"/>
              </a:defRPr>
            </a:pPr>
            <a:r>
              <a:t>• Patient Clarity: </a:t>
            </a:r>
            <a:r>
              <a:rPr b="0">
                <a:solidFill>
                  <a:srgbClr val="94A3B8"/>
                </a:solidFill>
              </a:rPr>
              <a:t>Incomprehensible  ➔  </a:t>
            </a:r>
            <a:r>
              <a:rPr b="1">
                <a:solidFill>
                  <a:srgbClr val="14B8A6"/>
                </a:solidFill>
              </a:rPr>
              <a:t>6th-grade (EN, ES, HI) </a:t>
            </a:r>
            <a:r>
              <a:rPr b="1">
                <a:solidFill>
                  <a:srgbClr val="22C55E"/>
                </a:solidFill>
              </a:rPr>
              <a:t>(100% Transparency)</a:t>
            </a:r>
          </a:p>
        </p:txBody>
      </p:sp>
      <p:sp>
        <p:nvSpPr>
          <p:cNvPr id="8" name="Rounded Rectangle 7"/>
          <p:cNvSpPr/>
          <p:nvPr/>
        </p:nvSpPr>
        <p:spPr>
          <a:xfrm>
            <a:off x="7818120" y="1554480"/>
            <a:ext cx="36393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91640"/>
            <a:ext cx="3273552" cy="1920240"/>
          </a:xfrm>
          <a:prstGeom prst="rect">
            <a:avLst/>
          </a:prstGeom>
          <a:noFill/>
        </p:spPr>
        <p:txBody>
          <a:bodyPr wrap="square">
            <a:spAutoFit/>
          </a:bodyPr>
          <a:lstStyle/>
          <a:p>
            <a:pPr>
              <a:spcAft>
                <a:spcPts val="400"/>
              </a:spcAft>
              <a:defRPr sz="2800" b="1">
                <a:solidFill>
                  <a:srgbClr val="22C55E"/>
                </a:solidFill>
                <a:latin typeface="Segoe UI"/>
              </a:defRPr>
            </a:pPr>
            <a:r>
              <a:t>$182,000 / Year</a:t>
            </a:r>
          </a:p>
          <a:p>
            <a:pPr>
              <a:spcAft>
                <a:spcPts val="600"/>
              </a:spcAft>
              <a:defRPr sz="1100" b="1">
                <a:solidFill>
                  <a:srgbClr val="F8FAFC"/>
                </a:solidFill>
                <a:latin typeface="Segoe UI"/>
              </a:defRPr>
            </a:pPr>
            <a:r>
              <a:t>SAVINGS PER MID-SIZED CLINIC</a:t>
            </a:r>
          </a:p>
          <a:p>
            <a:pPr>
              <a:defRPr sz="1100">
                <a:solidFill>
                  <a:srgbClr val="94A3B8"/>
                </a:solidFill>
                <a:latin typeface="Segoe UI"/>
              </a:defRPr>
            </a:pPr>
            <a:r>
              <a:t>Eliminating 14 hours/week of physician administrative overtime across a 10-provider practice.</a:t>
            </a:r>
          </a:p>
        </p:txBody>
      </p:sp>
      <p:sp>
        <p:nvSpPr>
          <p:cNvPr id="10" name="Rounded Rectangle 9"/>
          <p:cNvSpPr/>
          <p:nvPr/>
        </p:nvSpPr>
        <p:spPr>
          <a:xfrm>
            <a:off x="7818120" y="4069080"/>
            <a:ext cx="3639312" cy="22402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4206240"/>
            <a:ext cx="3273552" cy="1920240"/>
          </a:xfrm>
          <a:prstGeom prst="rect">
            <a:avLst/>
          </a:prstGeom>
          <a:noFill/>
        </p:spPr>
        <p:txBody>
          <a:bodyPr wrap="square">
            <a:spAutoFit/>
          </a:bodyPr>
          <a:lstStyle/>
          <a:p>
            <a:pPr>
              <a:spcAft>
                <a:spcPts val="400"/>
              </a:spcAft>
              <a:defRPr sz="2800" b="1">
                <a:solidFill>
                  <a:srgbClr val="06B6D4"/>
                </a:solidFill>
                <a:latin typeface="Segoe UI"/>
              </a:defRPr>
            </a:pPr>
            <a:r>
              <a:t>74% Fewer Denials</a:t>
            </a:r>
          </a:p>
          <a:p>
            <a:pPr>
              <a:spcAft>
                <a:spcPts val="600"/>
              </a:spcAft>
              <a:defRPr sz="1100" b="1">
                <a:solidFill>
                  <a:srgbClr val="F8FAFC"/>
                </a:solidFill>
                <a:latin typeface="Segoe UI"/>
              </a:defRPr>
            </a:pPr>
            <a:r>
              <a:t>PRE-SUBMISSION VERIFICATION</a:t>
            </a:r>
          </a:p>
          <a:p>
            <a:pPr>
              <a:defRPr sz="1100">
                <a:solidFill>
                  <a:srgbClr val="94A3B8"/>
                </a:solidFill>
                <a:latin typeface="Segoe UI"/>
              </a:defRPr>
            </a:pPr>
            <a:r>
              <a:t>Catching evidence gaps and step-therapy issues before filing eliminates 74% of initial insurer rejections.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FUTURE ROADMAP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Production Roadmap &amp; Clinical Deployment</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4747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3108960" cy="4389120"/>
          </a:xfrm>
          <a:prstGeom prst="rect">
            <a:avLst/>
          </a:prstGeom>
          <a:noFill/>
        </p:spPr>
        <p:txBody>
          <a:bodyPr wrap="square">
            <a:spAutoFit/>
          </a:bodyPr>
          <a:lstStyle/>
          <a:p>
            <a:pPr>
              <a:spcAft>
                <a:spcPts val="200"/>
              </a:spcAft>
              <a:defRPr sz="1100" b="1">
                <a:solidFill>
                  <a:srgbClr val="22C55E"/>
                </a:solidFill>
                <a:latin typeface="Segoe UI"/>
              </a:defRPr>
            </a:pPr>
            <a:r>
              <a:t>PHASE 1: PROTOTYPE (COMPLETED)</a:t>
            </a:r>
          </a:p>
          <a:p>
            <a:pPr>
              <a:spcAft>
                <a:spcPts val="1600"/>
              </a:spcAft>
              <a:defRPr sz="1700" b="1">
                <a:solidFill>
                  <a:srgbClr val="F8FAFC"/>
                </a:solidFill>
                <a:latin typeface="Segoe UI"/>
              </a:defRPr>
            </a:pPr>
            <a:r>
              <a:t>Hackathon Working MVP</a:t>
            </a:r>
          </a:p>
          <a:p>
            <a:pPr>
              <a:spcAft>
                <a:spcPts val="800"/>
              </a:spcAft>
              <a:defRPr sz="1200">
                <a:solidFill>
                  <a:srgbClr val="F8FAFC"/>
                </a:solidFill>
                <a:latin typeface="Segoe UI"/>
              </a:defRPr>
            </a:pPr>
            <a:r>
              <a:t>✔ Multi-agent Evolus orchestration</a:t>
            </a:r>
          </a:p>
          <a:p>
            <a:pPr>
              <a:spcAft>
                <a:spcPts val="800"/>
              </a:spcAft>
              <a:defRPr sz="1200">
                <a:solidFill>
                  <a:srgbClr val="F8FAFC"/>
                </a:solidFill>
                <a:latin typeface="Segoe UI"/>
              </a:defRPr>
            </a:pPr>
            <a:r>
              <a:t>✔ AMD Instinct MI300X vLLM backend</a:t>
            </a:r>
          </a:p>
          <a:p>
            <a:pPr>
              <a:spcAft>
                <a:spcPts val="800"/>
              </a:spcAft>
              <a:defRPr sz="1200">
                <a:solidFill>
                  <a:srgbClr val="F8FAFC"/>
                </a:solidFill>
                <a:latin typeface="Segoe UI"/>
              </a:defRPr>
            </a:pPr>
            <a:r>
              <a:t>✔ Evidence Gap &amp; Confidence Matrix</a:t>
            </a:r>
          </a:p>
          <a:p>
            <a:pPr>
              <a:spcAft>
                <a:spcPts val="800"/>
              </a:spcAft>
              <a:defRPr sz="1200">
                <a:solidFill>
                  <a:srgbClr val="F8FAFC"/>
                </a:solidFill>
                <a:latin typeface="Segoe UI"/>
              </a:defRPr>
            </a:pPr>
            <a:r>
              <a:t>✔ 3 Golden Clinical Scenarios tested</a:t>
            </a:r>
          </a:p>
          <a:p>
            <a:pPr>
              <a:spcAft>
                <a:spcPts val="800"/>
              </a:spcAft>
              <a:defRPr sz="1200">
                <a:solidFill>
                  <a:srgbClr val="F8FAFC"/>
                </a:solidFill>
                <a:latin typeface="Segoe UI"/>
              </a:defRPr>
            </a:pPr>
            <a:r>
              <a:t>✔ Multilingual Patient summaries</a:t>
            </a:r>
          </a:p>
          <a:p>
            <a:pPr>
              <a:spcAft>
                <a:spcPts val="800"/>
              </a:spcAft>
              <a:defRPr sz="1200">
                <a:solidFill>
                  <a:srgbClr val="F8FAFC"/>
                </a:solidFill>
                <a:latin typeface="Segoe UI"/>
              </a:defRPr>
            </a:pPr>
            <a:r>
              <a:t>✔ RBAC: Doctor, Patient, Lab Portals</a:t>
            </a:r>
          </a:p>
        </p:txBody>
      </p:sp>
      <p:sp>
        <p:nvSpPr>
          <p:cNvPr id="8" name="Rounded Rectangle 7"/>
          <p:cNvSpPr/>
          <p:nvPr/>
        </p:nvSpPr>
        <p:spPr>
          <a:xfrm>
            <a:off x="4361688" y="1554480"/>
            <a:ext cx="34747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737360"/>
            <a:ext cx="3108960" cy="4389120"/>
          </a:xfrm>
          <a:prstGeom prst="rect">
            <a:avLst/>
          </a:prstGeom>
          <a:noFill/>
        </p:spPr>
        <p:txBody>
          <a:bodyPr wrap="square">
            <a:spAutoFit/>
          </a:bodyPr>
          <a:lstStyle/>
          <a:p>
            <a:pPr>
              <a:spcAft>
                <a:spcPts val="200"/>
              </a:spcAft>
              <a:defRPr sz="1100" b="1">
                <a:solidFill>
                  <a:srgbClr val="06B6D4"/>
                </a:solidFill>
                <a:latin typeface="Segoe UI"/>
              </a:defRPr>
            </a:pPr>
            <a:r>
              <a:t>PHASE 2: PILOT (Q1 2027)</a:t>
            </a:r>
          </a:p>
          <a:p>
            <a:pPr>
              <a:spcAft>
                <a:spcPts val="1600"/>
              </a:spcAft>
              <a:defRPr sz="1700" b="1">
                <a:solidFill>
                  <a:srgbClr val="F8FAFC"/>
                </a:solidFill>
                <a:latin typeface="Segoe UI"/>
              </a:defRPr>
            </a:pPr>
            <a:r>
              <a:t>EHR &amp; Clearinghouse Integration</a:t>
            </a:r>
          </a:p>
          <a:p>
            <a:pPr>
              <a:spcAft>
                <a:spcPts val="800"/>
              </a:spcAft>
              <a:defRPr sz="1200">
                <a:solidFill>
                  <a:srgbClr val="94A3B8"/>
                </a:solidFill>
                <a:latin typeface="Segoe UI"/>
              </a:defRPr>
            </a:pPr>
            <a:r>
              <a:t>• FHIR &amp; HL7 v2 connectors (Epic / Cerner)</a:t>
            </a:r>
          </a:p>
          <a:p>
            <a:pPr>
              <a:spcAft>
                <a:spcPts val="800"/>
              </a:spcAft>
              <a:defRPr sz="1200">
                <a:solidFill>
                  <a:srgbClr val="94A3B8"/>
                </a:solidFill>
                <a:latin typeface="Segoe UI"/>
              </a:defRPr>
            </a:pPr>
            <a:r>
              <a:t>• Direct EDI 278 real-time payer clearinghouse</a:t>
            </a:r>
          </a:p>
          <a:p>
            <a:pPr>
              <a:spcAft>
                <a:spcPts val="800"/>
              </a:spcAft>
              <a:defRPr sz="1200">
                <a:solidFill>
                  <a:srgbClr val="94A3B8"/>
                </a:solidFill>
                <a:latin typeface="Segoe UI"/>
              </a:defRPr>
            </a:pPr>
            <a:r>
              <a:t>• Automated clinical fax ingestion via OCR</a:t>
            </a:r>
          </a:p>
          <a:p>
            <a:pPr>
              <a:spcAft>
                <a:spcPts val="800"/>
              </a:spcAft>
              <a:defRPr sz="1200">
                <a:solidFill>
                  <a:srgbClr val="94A3B8"/>
                </a:solidFill>
                <a:latin typeface="Segoe UI"/>
              </a:defRPr>
            </a:pPr>
            <a:r>
              <a:t>• Nurse review queue Slack/Teams webhooks</a:t>
            </a:r>
          </a:p>
          <a:p>
            <a:pPr>
              <a:spcAft>
                <a:spcPts val="800"/>
              </a:spcAft>
              <a:defRPr sz="1200">
                <a:solidFill>
                  <a:srgbClr val="94A3B8"/>
                </a:solidFill>
                <a:latin typeface="Segoe UI"/>
              </a:defRPr>
            </a:pPr>
            <a:r>
              <a:t>• On-premise AMD ROCm appliance deployment</a:t>
            </a:r>
          </a:p>
        </p:txBody>
      </p:sp>
      <p:sp>
        <p:nvSpPr>
          <p:cNvPr id="10" name="Rounded Rectangle 9"/>
          <p:cNvSpPr/>
          <p:nvPr/>
        </p:nvSpPr>
        <p:spPr>
          <a:xfrm>
            <a:off x="7991856" y="1554480"/>
            <a:ext cx="3474720"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1737360"/>
            <a:ext cx="3108960" cy="4389120"/>
          </a:xfrm>
          <a:prstGeom prst="rect">
            <a:avLst/>
          </a:prstGeom>
          <a:noFill/>
        </p:spPr>
        <p:txBody>
          <a:bodyPr wrap="square">
            <a:spAutoFit/>
          </a:bodyPr>
          <a:lstStyle/>
          <a:p>
            <a:pPr>
              <a:spcAft>
                <a:spcPts val="200"/>
              </a:spcAft>
              <a:defRPr sz="1100" b="1">
                <a:solidFill>
                  <a:srgbClr val="A855F7"/>
                </a:solidFill>
                <a:latin typeface="Segoe UI"/>
              </a:defRPr>
            </a:pPr>
            <a:r>
              <a:t>PHASE 3: SCALE (Q3 2027)</a:t>
            </a:r>
          </a:p>
          <a:p>
            <a:pPr>
              <a:spcAft>
                <a:spcPts val="1600"/>
              </a:spcAft>
              <a:defRPr sz="1700" b="1">
                <a:solidFill>
                  <a:srgbClr val="F8FAFC"/>
                </a:solidFill>
                <a:latin typeface="Segoe UI"/>
              </a:defRPr>
            </a:pPr>
            <a:r>
              <a:t>Full Autonomous Health Network</a:t>
            </a:r>
          </a:p>
          <a:p>
            <a:pPr>
              <a:spcAft>
                <a:spcPts val="800"/>
              </a:spcAft>
              <a:defRPr sz="1200">
                <a:solidFill>
                  <a:srgbClr val="94A3B8"/>
                </a:solidFill>
                <a:latin typeface="Segoe UI"/>
              </a:defRPr>
            </a:pPr>
            <a:r>
              <a:t>• Multi-specialty coverage (Oncology, Cardiology)</a:t>
            </a:r>
          </a:p>
          <a:p>
            <a:pPr>
              <a:spcAft>
                <a:spcPts val="800"/>
              </a:spcAft>
              <a:defRPr sz="1200">
                <a:solidFill>
                  <a:srgbClr val="94A3B8"/>
                </a:solidFill>
                <a:latin typeface="Segoe UI"/>
              </a:defRPr>
            </a:pPr>
            <a:r>
              <a:t>• Predictive Payer Denial analytics</a:t>
            </a:r>
          </a:p>
          <a:p>
            <a:pPr>
              <a:spcAft>
                <a:spcPts val="800"/>
              </a:spcAft>
              <a:defRPr sz="1200">
                <a:solidFill>
                  <a:srgbClr val="94A3B8"/>
                </a:solidFill>
                <a:latin typeface="Segoe UI"/>
              </a:defRPr>
            </a:pPr>
            <a:r>
              <a:t>• Cross-hospital federated learning on AMD</a:t>
            </a:r>
          </a:p>
          <a:p>
            <a:pPr>
              <a:spcAft>
                <a:spcPts val="800"/>
              </a:spcAft>
              <a:defRPr sz="1200">
                <a:solidFill>
                  <a:srgbClr val="94A3B8"/>
                </a:solidFill>
                <a:latin typeface="Segoe UI"/>
              </a:defRPr>
            </a:pPr>
            <a:r>
              <a:t>• Direct-to-patient mobile notification app</a:t>
            </a:r>
          </a:p>
          <a:p>
            <a:pPr>
              <a:spcAft>
                <a:spcPts val="800"/>
              </a:spcAft>
              <a:defRPr sz="1200">
                <a:solidFill>
                  <a:srgbClr val="94A3B8"/>
                </a:solidFill>
                <a:latin typeface="Segoe UI"/>
              </a:defRPr>
            </a:pPr>
            <a:r>
              <a:t>• Global payer guideline synchronization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20040"/>
          </a:xfrm>
          <a:prstGeom prst="rect">
            <a:avLst/>
          </a:prstGeom>
          <a:noFill/>
        </p:spPr>
        <p:txBody>
          <a:bodyPr wrap="square">
            <a:spAutoFit/>
          </a:bodyPr>
          <a:lstStyle/>
          <a:p>
            <a:pPr>
              <a:defRPr sz="1000" b="1">
                <a:solidFill>
                  <a:srgbClr val="ED1C24"/>
                </a:solidFill>
                <a:latin typeface="Segoe UI"/>
              </a:defRPr>
            </a:pPr>
            <a:r>
              <a:t>CONCLUSION  •  TRACK 2: HEALTH &amp; WELLBEING | EVOLUS ON AMD</a:t>
            </a:r>
          </a:p>
        </p:txBody>
      </p:sp>
      <p:sp>
        <p:nvSpPr>
          <p:cNvPr id="4" name="TextBox 3"/>
          <p:cNvSpPr txBox="1"/>
          <p:nvPr/>
        </p:nvSpPr>
        <p:spPr>
          <a:xfrm>
            <a:off x="731520" y="640080"/>
            <a:ext cx="10728655" cy="640080"/>
          </a:xfrm>
          <a:prstGeom prst="rect">
            <a:avLst/>
          </a:prstGeom>
          <a:noFill/>
        </p:spPr>
        <p:txBody>
          <a:bodyPr wrap="square">
            <a:spAutoFit/>
          </a:bodyPr>
          <a:lstStyle/>
          <a:p>
            <a:pPr>
              <a:defRPr sz="2400" b="1">
                <a:solidFill>
                  <a:srgbClr val="F8FAFC"/>
                </a:solidFill>
                <a:latin typeface="Segoe UI"/>
              </a:defRPr>
            </a:pPr>
            <a:r>
              <a:t>Summary: Transforming Healthcare Administration with AMD</a:t>
            </a:r>
          </a:p>
        </p:txBody>
      </p:sp>
      <p:sp>
        <p:nvSpPr>
          <p:cNvPr id="5" name="Rectangle 4"/>
          <p:cNvSpPr/>
          <p:nvPr/>
        </p:nvSpPr>
        <p:spPr>
          <a:xfrm>
            <a:off x="731520" y="1280160"/>
            <a:ext cx="1072865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4754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966960" cy="4389120"/>
          </a:xfrm>
          <a:prstGeom prst="rect">
            <a:avLst/>
          </a:prstGeom>
          <a:noFill/>
        </p:spPr>
        <p:txBody>
          <a:bodyPr wrap="square">
            <a:spAutoFit/>
          </a:bodyPr>
          <a:lstStyle/>
          <a:p>
            <a:pPr>
              <a:spcAft>
                <a:spcPts val="600"/>
              </a:spcAft>
              <a:defRPr sz="1300" b="1">
                <a:solidFill>
                  <a:srgbClr val="ED1C24"/>
                </a:solidFill>
                <a:latin typeface="Segoe UI"/>
              </a:defRPr>
            </a:pPr>
            <a:r>
              <a:t>WHY CAREAUTH-ROCM WINS TRACK 2 &amp; EVOLUS PARTNER TRACK</a:t>
            </a:r>
          </a:p>
          <a:p>
            <a:pPr>
              <a:spcAft>
                <a:spcPts val="1600"/>
              </a:spcAft>
              <a:defRPr sz="2400" b="1">
                <a:solidFill>
                  <a:srgbClr val="F8FAFC"/>
                </a:solidFill>
                <a:latin typeface="Segoe UI"/>
              </a:defRPr>
            </a:pPr>
            <a:r>
              <a:t>The Complete Autonomous Business Agent for Healthcare</a:t>
            </a:r>
          </a:p>
          <a:p>
            <a:pPr>
              <a:spcAft>
                <a:spcPts val="1000"/>
              </a:spcAft>
              <a:defRPr sz="1300" b="1">
                <a:solidFill>
                  <a:srgbClr val="14B8A6"/>
                </a:solidFill>
                <a:latin typeface="Segoe UI"/>
              </a:defRPr>
            </a:pPr>
            <a:r>
              <a:t>✔  Built for Real Clinical Practice: </a:t>
            </a:r>
            <a:r>
              <a:rPr b="0">
                <a:solidFill>
                  <a:srgbClr val="94A3B8"/>
                </a:solidFill>
              </a:rPr>
              <a:t>Addresses the $31B prior-authorization bottleneck with 98.6% speedup while maintaining strict human-in-the-loop clinical safety.</a:t>
            </a:r>
          </a:p>
          <a:p>
            <a:pPr>
              <a:spcAft>
                <a:spcPts val="1000"/>
              </a:spcAft>
              <a:defRPr sz="1300" b="1">
                <a:solidFill>
                  <a:srgbClr val="14B8A6"/>
                </a:solidFill>
                <a:latin typeface="Segoe UI"/>
              </a:defRPr>
            </a:pPr>
            <a:r>
              <a:t>✔  Strict Track 2 Compliance: </a:t>
            </a:r>
            <a:r>
              <a:rPr b="0">
                <a:solidFill>
                  <a:srgbClr val="94A3B8"/>
                </a:solidFill>
              </a:rPr>
              <a:t>Makes uncertainty visible through an interactive Evidence Gap Matrix; escalates ambiguous claims to clinical nurses rather than hallucinating.</a:t>
            </a:r>
          </a:p>
          <a:p>
            <a:pPr>
              <a:spcAft>
                <a:spcPts val="1000"/>
              </a:spcAft>
              <a:defRPr sz="1300" b="1">
                <a:solidFill>
                  <a:srgbClr val="14B8A6"/>
                </a:solidFill>
                <a:latin typeface="Segoe UI"/>
              </a:defRPr>
            </a:pPr>
            <a:r>
              <a:t>✔  Full Evolus Agent Exploitation: </a:t>
            </a:r>
            <a:r>
              <a:rPr b="0">
                <a:solidFill>
                  <a:srgbClr val="94A3B8"/>
                </a:solidFill>
              </a:rPr>
              <a:t>Seamlessly orchestrates Document Extractors, Knowledge Libraries, Sub-Agents, and Multi-Step Workflows.</a:t>
            </a:r>
          </a:p>
          <a:p>
            <a:pPr>
              <a:spcAft>
                <a:spcPts val="1000"/>
              </a:spcAft>
              <a:defRPr sz="1300" b="1">
                <a:solidFill>
                  <a:srgbClr val="14B8A6"/>
                </a:solidFill>
                <a:latin typeface="Segoe UI"/>
              </a:defRPr>
            </a:pPr>
            <a:r>
              <a:t>✔  Hardware-Accelerated on AMD ROCm: </a:t>
            </a:r>
            <a:r>
              <a:rPr b="0">
                <a:solidFill>
                  <a:srgbClr val="94A3B8"/>
                </a:solidFill>
              </a:rPr>
              <a:t>Exploits the 192GB memory of AMD Instinct MI300X to process 50-page charts with sub-200ms latency and zero cloud data leaks.</a:t>
            </a:r>
          </a:p>
          <a:p>
            <a:pPr>
              <a:spcBef>
                <a:spcPts val="1200"/>
              </a:spcBef>
              <a:defRPr sz="1200" b="1">
                <a:solidFill>
                  <a:srgbClr val="06B6D4"/>
                </a:solidFill>
                <a:latin typeface="Segoe UI"/>
              </a:defRPr>
            </a:pPr>
            <a:r>
              <a:t>Team Techtors  |  Built with ❤️ for AMD Developer Hackathon: ACT III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